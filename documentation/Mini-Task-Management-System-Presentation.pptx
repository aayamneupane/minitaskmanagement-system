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333"/>
    <p:restoredTop sz="94640"/>
  </p:normalViewPr>
  <p:slideViewPr>
    <p:cSldViewPr snapToGrid="0">
      <p:cViewPr>
        <p:scale>
          <a:sx n="50" d="100"/>
          <a:sy n="50" d="100"/>
        </p:scale>
        <p:origin x="72" y="1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57983-A773-A3CA-5B0E-E1AFC5E14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961EF2-097D-8207-D82F-EFA2B5959F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E42997-D338-8594-748C-051887C153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9B8A3-DF29-2CD6-2F2C-30D8BC080DB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089905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802BB1C-A8AA-4FEF-A95E-1A2FD4BC45FD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PROJECT PRESENTATION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2C365D-8A9B-4D31-87A3-476071CEEB79}"/>
              </a:ext>
            </a:extLst>
          </p:cNvPr>
          <p:cNvSpPr>
            <a:spLocks noGrp="1"/>
          </p:cNvSpPr>
          <p:nvPr/>
        </p:nvSpPr>
        <p:spPr>
          <a:xfrm>
            <a:off x="400050" y="1714500"/>
            <a:ext cx="85725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4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Mini Task</a:t>
            </a:r>
          </a:p>
          <a:p>
            <a:pPr algn="l">
              <a:defRPr sz="4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Management System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96EAA5-4FD2-4AE2-BA53-6D6F943025F5}"/>
              </a:ext>
            </a:extLst>
          </p:cNvPr>
          <p:cNvSpPr>
            <a:spLocks noGrp="1"/>
          </p:cNvSpPr>
          <p:nvPr/>
        </p:nvSpPr>
        <p:spPr>
          <a:xfrm>
            <a:off x="400050" y="4762500"/>
            <a:ext cx="7143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0">
                <a:solidFill>
                  <a:srgbClr val="5F6F8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F6F86"/>
                </a:solidFill>
                <a:latin typeface="Arial"/>
                <a:ea typeface="Arial"/>
                <a:cs typeface="Arial"/>
              </a:rPr>
              <a:t>A role-aware web application for creating, assigning, tracking, and completing team tickets.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1833B15-8F84-4D85-A0BA-80E60BF8CF28}"/>
              </a:ext>
            </a:extLst>
          </p:cNvPr>
          <p:cNvSpPr>
            <a:spLocks noGrp="1"/>
          </p:cNvSpPr>
          <p:nvPr/>
        </p:nvSpPr>
        <p:spPr>
          <a:xfrm>
            <a:off x="9620250" y="571500"/>
            <a:ext cx="1809750" cy="5334000"/>
          </a:xfrm>
          <a:prstGeom prst="roundRect">
            <a:avLst>
              <a:gd name="adj" fmla="val 6316"/>
            </a:avLst>
          </a:prstGeom>
          <a:solidFill>
            <a:srgbClr val="DBEAFE"/>
          </a:solidFill>
          <a:ln w="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3B92599-4E00-434A-AC3A-B495F16EE282}"/>
              </a:ext>
            </a:extLst>
          </p:cNvPr>
          <p:cNvSpPr>
            <a:spLocks noGrp="1"/>
          </p:cNvSpPr>
          <p:nvPr/>
        </p:nvSpPr>
        <p:spPr>
          <a:xfrm>
            <a:off x="10096500" y="1095375"/>
            <a:ext cx="857250" cy="85725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A6E29A-AD53-4BF7-94FD-D3CF68F6BA00}"/>
              </a:ext>
            </a:extLst>
          </p:cNvPr>
          <p:cNvSpPr>
            <a:spLocks noGrp="1"/>
          </p:cNvSpPr>
          <p:nvPr/>
        </p:nvSpPr>
        <p:spPr>
          <a:xfrm>
            <a:off x="10096500" y="1257300"/>
            <a:ext cx="857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2097750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8E68838-E061-4CF2-BBC3-C9E2074F03EB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system turns scattered tasks into a visible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DAD58A-9BB4-4B91-85FF-B8C20A67568C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F6F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F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C82B903-55B9-43B0-9F5F-8634B77B5F5C}"/>
              </a:ext>
            </a:extLst>
          </p:cNvPr>
          <p:cNvSpPr>
            <a:spLocks noGrp="1"/>
          </p:cNvSpPr>
          <p:nvPr/>
        </p:nvSpPr>
        <p:spPr>
          <a:xfrm>
            <a:off x="400050" y="1714500"/>
            <a:ext cx="3429000" cy="3714750"/>
          </a:xfrm>
          <a:prstGeom prst="roundRect">
            <a:avLst>
              <a:gd name="adj" fmla="val 3333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27BA23-F5B2-4697-8749-D8E872DAD14B}"/>
              </a:ext>
            </a:extLst>
          </p:cNvPr>
          <p:cNvSpPr>
            <a:spLocks noGrp="1"/>
          </p:cNvSpPr>
          <p:nvPr/>
        </p:nvSpPr>
        <p:spPr>
          <a:xfrm>
            <a:off x="590550" y="18859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D204E4-2CC7-42A6-A65A-0CD83F11AF18}"/>
              </a:ext>
            </a:extLst>
          </p:cNvPr>
          <p:cNvSpPr>
            <a:spLocks noGrp="1"/>
          </p:cNvSpPr>
          <p:nvPr/>
        </p:nvSpPr>
        <p:spPr>
          <a:xfrm>
            <a:off x="590550" y="2266950"/>
            <a:ext cx="3048000" cy="2990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Teams need a simple way to capture work, assign ownership, understand urgency, and see progress without the complexity of a full enterprise tool.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D467C341-037E-4710-AA25-E61E8A122A51}"/>
              </a:ext>
            </a:extLst>
          </p:cNvPr>
          <p:cNvSpPr>
            <a:spLocks noGrp="1"/>
          </p:cNvSpPr>
          <p:nvPr/>
        </p:nvSpPr>
        <p:spPr>
          <a:xfrm>
            <a:off x="4210050" y="3143250"/>
            <a:ext cx="819150" cy="495300"/>
          </a:xfrm>
          <a:prstGeom prst="rightArrow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EC37B7B-042D-496E-89C4-88EDC702DD67}"/>
              </a:ext>
            </a:extLst>
          </p:cNvPr>
          <p:cNvSpPr>
            <a:spLocks noGrp="1"/>
          </p:cNvSpPr>
          <p:nvPr/>
        </p:nvSpPr>
        <p:spPr>
          <a:xfrm>
            <a:off x="5410200" y="1714500"/>
            <a:ext cx="6381750" cy="3714750"/>
          </a:xfrm>
          <a:prstGeom prst="roundRect">
            <a:avLst>
              <a:gd name="adj" fmla="val 3077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B0F08A-921F-4E34-8374-1F743AC8775C}"/>
              </a:ext>
            </a:extLst>
          </p:cNvPr>
          <p:cNvSpPr>
            <a:spLocks noGrp="1"/>
          </p:cNvSpPr>
          <p:nvPr/>
        </p:nvSpPr>
        <p:spPr>
          <a:xfrm>
            <a:off x="5600700" y="1885950"/>
            <a:ext cx="600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The solution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74846E-52EF-495F-85AF-C47264AC4C98}"/>
              </a:ext>
            </a:extLst>
          </p:cNvPr>
          <p:cNvSpPr>
            <a:spLocks noGrp="1"/>
          </p:cNvSpPr>
          <p:nvPr/>
        </p:nvSpPr>
        <p:spPr>
          <a:xfrm>
            <a:off x="5600700" y="2266950"/>
            <a:ext cx="6000750" cy="2990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MiniTask provides registration and login, role-based ticket management, searchable ticket lists, detailed ticket views, assignment emails, and a graphical dashboard — all in one lightweight application.</a:t>
            </a:r>
          </a:p>
        </p:txBody>
      </p:sp>
    </p:spTree>
    <p:extLst>
      <p:ext uri="{BB962C8B-B14F-4D97-AF65-F5344CB8AC3E}">
        <p14:creationId xmlns:p14="http://schemas.microsoft.com/office/powerpoint/2010/main" val="971740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4CC32D-6869-5724-02FC-91B8FB674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02195DC-DAB8-568D-16EA-BE241172F6B0}"/>
              </a:ext>
            </a:extLst>
          </p:cNvPr>
          <p:cNvSpPr>
            <a:spLocks noGrp="1"/>
          </p:cNvSpPr>
          <p:nvPr/>
        </p:nvSpPr>
        <p:spPr>
          <a:xfrm>
            <a:off x="400050" y="903396"/>
            <a:ext cx="6381750" cy="324278"/>
          </a:xfrm>
          <a:prstGeom prst="roundRect">
            <a:avLst>
              <a:gd name="adj" fmla="val 3077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4E6F98A-EEB2-6FDF-4E8A-8774FBF719EF}"/>
              </a:ext>
            </a:extLst>
          </p:cNvPr>
          <p:cNvSpPr>
            <a:spLocks noGrp="1"/>
          </p:cNvSpPr>
          <p:nvPr/>
        </p:nvSpPr>
        <p:spPr>
          <a:xfrm>
            <a:off x="400050" y="1342904"/>
            <a:ext cx="11273742" cy="5191245"/>
          </a:xfrm>
          <a:prstGeom prst="roundRect">
            <a:avLst>
              <a:gd name="adj" fmla="val 3333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72D26D-161B-0E7C-BEC3-E6D5B6FD72AA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ctr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sz="2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Proposed Requirements</a:t>
            </a:r>
            <a:endParaRPr sz="285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C10B53-AB04-B188-9E54-0714AD3F8A47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F6F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F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A8C134-9DF4-76C8-C594-D193A356A9BD}"/>
              </a:ext>
            </a:extLst>
          </p:cNvPr>
          <p:cNvSpPr txBox="1"/>
          <p:nvPr/>
        </p:nvSpPr>
        <p:spPr>
          <a:xfrm>
            <a:off x="400050" y="929335"/>
            <a:ext cx="11273742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Project Title: Mini Task Management System.</a:t>
            </a:r>
          </a:p>
          <a:p>
            <a:pPr rtl="0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/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Project Description: </a:t>
            </a:r>
          </a:p>
          <a:p>
            <a:pPr rt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Task Management System is a web-based application used to create, assign, manage, and track tickets/tasks. Users can create tickets, update their status, set priority, and search tickets. Admin can assign tickets to users and monitor ticket progress through a simple dashboard. The system will also send email notifications when a ticket is assigned to a user.</a:t>
            </a:r>
          </a:p>
          <a:p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rtl="0"/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Functionalities:</a:t>
            </a:r>
          </a:p>
          <a:p>
            <a:pPr algn="just" rt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User login</a:t>
            </a:r>
          </a:p>
          <a:p>
            <a:pPr algn="just" rt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Role-based access for Admin and User</a:t>
            </a:r>
          </a:p>
          <a:p>
            <a:pPr algn="just" rt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Create ticket</a:t>
            </a:r>
          </a:p>
          <a:p>
            <a:pPr algn="just" rt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View all tickets</a:t>
            </a:r>
          </a:p>
          <a:p>
            <a:pPr algn="just" rt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View ticket details</a:t>
            </a:r>
          </a:p>
          <a:p>
            <a:pPr algn="just" rt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Update ticket details</a:t>
            </a:r>
          </a:p>
          <a:p>
            <a:pPr algn="just" rt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Delete ticket</a:t>
            </a:r>
          </a:p>
          <a:p>
            <a:pPr algn="just" rt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Assign ticket to user</a:t>
            </a:r>
          </a:p>
          <a:p>
            <a:pPr algn="just" rt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Set ticket priority: Low, Medium, High</a:t>
            </a:r>
          </a:p>
          <a:p>
            <a:pPr algn="just" rt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Update ticket status: Open, In Progress, Closed</a:t>
            </a:r>
          </a:p>
          <a:p>
            <a:pPr algn="just" rt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Search ticket by title</a:t>
            </a:r>
          </a:p>
          <a:p>
            <a:pPr algn="just" rt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Email notification when a ticket is assigned</a:t>
            </a:r>
          </a:p>
          <a:p>
            <a:pPr algn="just" rt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Dashboard showing total tickets</a:t>
            </a:r>
          </a:p>
          <a:p>
            <a:pPr algn="just" rt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Graphical representation of tickets by status and priority</a:t>
            </a:r>
          </a:p>
          <a:p>
            <a:pPr algn="just"/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0761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CB9BF6E-ACE8-43DB-848E-F9CCEB501458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ctr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sz="2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SCOPE</a:t>
            </a:r>
            <a:endParaRPr sz="285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A055C7-338F-4E51-8E05-D980EAC6CAFE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F6F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F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24009F3-EC0A-4C26-9F7C-524F5434C76D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11391900" cy="647700"/>
          </a:xfrm>
          <a:prstGeom prst="roundRect">
            <a:avLst>
              <a:gd name="adj" fmla="val 17647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F6C02C-32DA-43DB-ADC5-1DF926F8783E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F05843-91D9-4095-B1A0-0617D24995E8}"/>
              </a:ext>
            </a:extLst>
          </p:cNvPr>
          <p:cNvSpPr>
            <a:spLocks noGrp="1"/>
          </p:cNvSpPr>
          <p:nvPr/>
        </p:nvSpPr>
        <p:spPr>
          <a:xfrm>
            <a:off x="1428750" y="17907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412ED0-B6EF-4999-AC46-22B7E15CD19E}"/>
              </a:ext>
            </a:extLst>
          </p:cNvPr>
          <p:cNvSpPr>
            <a:spLocks noGrp="1"/>
          </p:cNvSpPr>
          <p:nvPr/>
        </p:nvSpPr>
        <p:spPr>
          <a:xfrm>
            <a:off x="4000500" y="179070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F6F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F86"/>
                </a:solidFill>
                <a:latin typeface="Arial"/>
                <a:ea typeface="Arial"/>
                <a:cs typeface="Arial"/>
              </a:rPr>
              <a:t>Registration, login, Admin/User roles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0510BD8-1636-465F-AC74-A71144CEDDDB}"/>
              </a:ext>
            </a:extLst>
          </p:cNvPr>
          <p:cNvSpPr>
            <a:spLocks noGrp="1"/>
          </p:cNvSpPr>
          <p:nvPr/>
        </p:nvSpPr>
        <p:spPr>
          <a:xfrm>
            <a:off x="400050" y="2266950"/>
            <a:ext cx="11391900" cy="64770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032631-5A0B-44A8-94A2-087D70CDFA12}"/>
              </a:ext>
            </a:extLst>
          </p:cNvPr>
          <p:cNvSpPr>
            <a:spLocks noGrp="1"/>
          </p:cNvSpPr>
          <p:nvPr/>
        </p:nvSpPr>
        <p:spPr>
          <a:xfrm>
            <a:off x="571500" y="24574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277FAC-ECA5-4952-9F28-67957D543E1F}"/>
              </a:ext>
            </a:extLst>
          </p:cNvPr>
          <p:cNvSpPr>
            <a:spLocks noGrp="1"/>
          </p:cNvSpPr>
          <p:nvPr/>
        </p:nvSpPr>
        <p:spPr>
          <a:xfrm>
            <a:off x="1428750" y="24384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Ticket lifecycle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4369D0-ED79-48F2-AA7A-E865D08CAF2A}"/>
              </a:ext>
            </a:extLst>
          </p:cNvPr>
          <p:cNvSpPr>
            <a:spLocks noGrp="1"/>
          </p:cNvSpPr>
          <p:nvPr/>
        </p:nvSpPr>
        <p:spPr>
          <a:xfrm>
            <a:off x="4000500" y="243840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F6F86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5F6F86"/>
                </a:solidFill>
                <a:latin typeface="Arial"/>
                <a:ea typeface="Arial"/>
                <a:cs typeface="Arial"/>
              </a:rPr>
              <a:t>Create, view, details, update, delete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19F443E-07B4-4FF2-ACAF-1F4CDEE547C9}"/>
              </a:ext>
            </a:extLst>
          </p:cNvPr>
          <p:cNvSpPr>
            <a:spLocks noGrp="1"/>
          </p:cNvSpPr>
          <p:nvPr/>
        </p:nvSpPr>
        <p:spPr>
          <a:xfrm>
            <a:off x="400050" y="2914650"/>
            <a:ext cx="11391900" cy="647700"/>
          </a:xfrm>
          <a:prstGeom prst="roundRect">
            <a:avLst>
              <a:gd name="adj" fmla="val 17647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77C458-6EA0-42D0-BA06-F93B8004B826}"/>
              </a:ext>
            </a:extLst>
          </p:cNvPr>
          <p:cNvSpPr>
            <a:spLocks noGrp="1"/>
          </p:cNvSpPr>
          <p:nvPr/>
        </p:nvSpPr>
        <p:spPr>
          <a:xfrm>
            <a:off x="571500" y="31051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24927E-CFED-4052-A292-A651809902ED}"/>
              </a:ext>
            </a:extLst>
          </p:cNvPr>
          <p:cNvSpPr>
            <a:spLocks noGrp="1"/>
          </p:cNvSpPr>
          <p:nvPr/>
        </p:nvSpPr>
        <p:spPr>
          <a:xfrm>
            <a:off x="1428750" y="30861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Work controls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B5D346-00BE-4C7A-8419-7A44894D23CE}"/>
              </a:ext>
            </a:extLst>
          </p:cNvPr>
          <p:cNvSpPr>
            <a:spLocks noGrp="1"/>
          </p:cNvSpPr>
          <p:nvPr/>
        </p:nvSpPr>
        <p:spPr>
          <a:xfrm>
            <a:off x="4000500" y="308610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F6F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F86"/>
                </a:solidFill>
                <a:latin typeface="Arial"/>
                <a:ea typeface="Arial"/>
                <a:cs typeface="Arial"/>
              </a:rPr>
              <a:t>Assignment, priority, status, due date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F21FFD1-4503-4F5E-8686-D490514443E5}"/>
              </a:ext>
            </a:extLst>
          </p:cNvPr>
          <p:cNvSpPr>
            <a:spLocks noGrp="1"/>
          </p:cNvSpPr>
          <p:nvPr/>
        </p:nvSpPr>
        <p:spPr>
          <a:xfrm>
            <a:off x="400050" y="3562350"/>
            <a:ext cx="11391900" cy="64770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1D48D1-E456-47B1-93A0-03B6752F3431}"/>
              </a:ext>
            </a:extLst>
          </p:cNvPr>
          <p:cNvSpPr>
            <a:spLocks noGrp="1"/>
          </p:cNvSpPr>
          <p:nvPr/>
        </p:nvSpPr>
        <p:spPr>
          <a:xfrm>
            <a:off x="571500" y="37528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F2A320-CCB8-43A5-B91E-C57829143E6B}"/>
              </a:ext>
            </a:extLst>
          </p:cNvPr>
          <p:cNvSpPr>
            <a:spLocks noGrp="1"/>
          </p:cNvSpPr>
          <p:nvPr/>
        </p:nvSpPr>
        <p:spPr>
          <a:xfrm>
            <a:off x="1428750" y="37338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Discovery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2534EF-4CBB-4994-932D-B4675EFE3218}"/>
              </a:ext>
            </a:extLst>
          </p:cNvPr>
          <p:cNvSpPr>
            <a:spLocks noGrp="1"/>
          </p:cNvSpPr>
          <p:nvPr/>
        </p:nvSpPr>
        <p:spPr>
          <a:xfrm>
            <a:off x="4000500" y="373380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F6F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F86"/>
                </a:solidFill>
                <a:latin typeface="Arial"/>
                <a:ea typeface="Arial"/>
                <a:cs typeface="Arial"/>
              </a:rPr>
              <a:t>Search by title and filter by status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C0D3D40-5AF4-4AF9-81B9-3E1B68A2B1DB}"/>
              </a:ext>
            </a:extLst>
          </p:cNvPr>
          <p:cNvSpPr>
            <a:spLocks noGrp="1"/>
          </p:cNvSpPr>
          <p:nvPr/>
        </p:nvSpPr>
        <p:spPr>
          <a:xfrm>
            <a:off x="400050" y="4210050"/>
            <a:ext cx="11391900" cy="647700"/>
          </a:xfrm>
          <a:prstGeom prst="roundRect">
            <a:avLst>
              <a:gd name="adj" fmla="val 17647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6BCAC0-6326-413C-8E94-ADE6E21C4A6C}"/>
              </a:ext>
            </a:extLst>
          </p:cNvPr>
          <p:cNvSpPr>
            <a:spLocks noGrp="1"/>
          </p:cNvSpPr>
          <p:nvPr/>
        </p:nvSpPr>
        <p:spPr>
          <a:xfrm>
            <a:off x="571500" y="44005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C9E940-3FA6-4D43-9294-2C628B3125E7}"/>
              </a:ext>
            </a:extLst>
          </p:cNvPr>
          <p:cNvSpPr>
            <a:spLocks noGrp="1"/>
          </p:cNvSpPr>
          <p:nvPr/>
        </p:nvSpPr>
        <p:spPr>
          <a:xfrm>
            <a:off x="1428750" y="43815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Notification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C049D1-79D7-414A-BE8F-F2F1C2B3A654}"/>
              </a:ext>
            </a:extLst>
          </p:cNvPr>
          <p:cNvSpPr>
            <a:spLocks noGrp="1"/>
          </p:cNvSpPr>
          <p:nvPr/>
        </p:nvSpPr>
        <p:spPr>
          <a:xfrm>
            <a:off x="4000500" y="438150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F6F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F86"/>
                </a:solidFill>
                <a:latin typeface="Arial"/>
                <a:ea typeface="Arial"/>
                <a:cs typeface="Arial"/>
              </a:rPr>
              <a:t>Real Gmail message when a ticket is assigned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A1632A1-E977-4DB3-A2AD-87A03D9E1BC1}"/>
              </a:ext>
            </a:extLst>
          </p:cNvPr>
          <p:cNvSpPr>
            <a:spLocks noGrp="1"/>
          </p:cNvSpPr>
          <p:nvPr/>
        </p:nvSpPr>
        <p:spPr>
          <a:xfrm>
            <a:off x="400050" y="4857750"/>
            <a:ext cx="11391900" cy="64770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717212F-70D9-43EF-AC91-4A4C1EF86A01}"/>
              </a:ext>
            </a:extLst>
          </p:cNvPr>
          <p:cNvSpPr>
            <a:spLocks noGrp="1"/>
          </p:cNvSpPr>
          <p:nvPr/>
        </p:nvSpPr>
        <p:spPr>
          <a:xfrm>
            <a:off x="571500" y="5048250"/>
            <a:ext cx="57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443707-AB7E-498A-A79D-6F679A07CF40}"/>
              </a:ext>
            </a:extLst>
          </p:cNvPr>
          <p:cNvSpPr>
            <a:spLocks noGrp="1"/>
          </p:cNvSpPr>
          <p:nvPr/>
        </p:nvSpPr>
        <p:spPr>
          <a:xfrm>
            <a:off x="1428750" y="50292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Reporting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DB6B557-5CD0-4A4A-85C3-7620E705D666}"/>
              </a:ext>
            </a:extLst>
          </p:cNvPr>
          <p:cNvSpPr>
            <a:spLocks noGrp="1"/>
          </p:cNvSpPr>
          <p:nvPr/>
        </p:nvSpPr>
        <p:spPr>
          <a:xfrm>
            <a:off x="4000500" y="502920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F6F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F86"/>
                </a:solidFill>
                <a:latin typeface="Arial"/>
                <a:ea typeface="Arial"/>
                <a:cs typeface="Arial"/>
              </a:rPr>
              <a:t>Counts and charts by status and priority</a:t>
            </a:r>
          </a:p>
        </p:txBody>
      </p:sp>
    </p:spTree>
    <p:extLst>
      <p:ext uri="{BB962C8B-B14F-4D97-AF65-F5344CB8AC3E}">
        <p14:creationId xmlns:p14="http://schemas.microsoft.com/office/powerpoint/2010/main" val="1277831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7FEE464A-0D7B-40CB-A632-503AE54BC10E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ctr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sz="2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ROLES</a:t>
            </a:r>
            <a:endParaRPr sz="285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BBB04CF-1069-4425-85C5-AA7DE73EB672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F6F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F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BC7522-5027-4F2D-B212-C469B876C31E}"/>
              </a:ext>
            </a:extLst>
          </p:cNvPr>
          <p:cNvSpPr>
            <a:spLocks noGrp="1"/>
          </p:cNvSpPr>
          <p:nvPr/>
        </p:nvSpPr>
        <p:spPr>
          <a:xfrm>
            <a:off x="590550" y="16192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0CABE4A-F9EC-4968-843D-735EF8D974F1}"/>
              </a:ext>
            </a:extLst>
          </p:cNvPr>
          <p:cNvSpPr>
            <a:spLocks noGrp="1"/>
          </p:cNvSpPr>
          <p:nvPr/>
        </p:nvSpPr>
        <p:spPr>
          <a:xfrm>
            <a:off x="590550" y="2390775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E0123A-0B38-4BE8-A380-3968B39B8846}"/>
              </a:ext>
            </a:extLst>
          </p:cNvPr>
          <p:cNvSpPr>
            <a:spLocks noGrp="1"/>
          </p:cNvSpPr>
          <p:nvPr/>
        </p:nvSpPr>
        <p:spPr>
          <a:xfrm>
            <a:off x="828675" y="2333625"/>
            <a:ext cx="4524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View and search every ticket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C4AB605-76DA-403D-9755-10C0F27BAD08}"/>
              </a:ext>
            </a:extLst>
          </p:cNvPr>
          <p:cNvSpPr>
            <a:spLocks noGrp="1"/>
          </p:cNvSpPr>
          <p:nvPr/>
        </p:nvSpPr>
        <p:spPr>
          <a:xfrm>
            <a:off x="590550" y="2905125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CA4786-A6B0-4F32-86DC-386771834C5C}"/>
              </a:ext>
            </a:extLst>
          </p:cNvPr>
          <p:cNvSpPr>
            <a:spLocks noGrp="1"/>
          </p:cNvSpPr>
          <p:nvPr/>
        </p:nvSpPr>
        <p:spPr>
          <a:xfrm>
            <a:off x="828675" y="2847975"/>
            <a:ext cx="4524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Create tickets and assign any valid user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CD43A93-53E2-4F35-A478-4F1272B44BFD}"/>
              </a:ext>
            </a:extLst>
          </p:cNvPr>
          <p:cNvSpPr>
            <a:spLocks noGrp="1"/>
          </p:cNvSpPr>
          <p:nvPr/>
        </p:nvSpPr>
        <p:spPr>
          <a:xfrm>
            <a:off x="590550" y="3419475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F901DE-BA13-4AA1-B5EA-2C628D93FEDF}"/>
              </a:ext>
            </a:extLst>
          </p:cNvPr>
          <p:cNvSpPr>
            <a:spLocks noGrp="1"/>
          </p:cNvSpPr>
          <p:nvPr/>
        </p:nvSpPr>
        <p:spPr>
          <a:xfrm>
            <a:off x="828675" y="3362325"/>
            <a:ext cx="4524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Edit ticket details and delete tickets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1D5BD6E-0EF1-4AB0-9538-8C87B75F2547}"/>
              </a:ext>
            </a:extLst>
          </p:cNvPr>
          <p:cNvSpPr>
            <a:spLocks noGrp="1"/>
          </p:cNvSpPr>
          <p:nvPr/>
        </p:nvSpPr>
        <p:spPr>
          <a:xfrm>
            <a:off x="590550" y="3933825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71C7EB-09DB-4DBA-A7EC-D9142B5AB5CF}"/>
              </a:ext>
            </a:extLst>
          </p:cNvPr>
          <p:cNvSpPr>
            <a:spLocks noGrp="1"/>
          </p:cNvSpPr>
          <p:nvPr/>
        </p:nvSpPr>
        <p:spPr>
          <a:xfrm>
            <a:off x="828675" y="3876675"/>
            <a:ext cx="4524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Move tickets through the workflow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97ACCBB-95DC-486C-A855-CEDBDF429363}"/>
              </a:ext>
            </a:extLst>
          </p:cNvPr>
          <p:cNvSpPr>
            <a:spLocks noGrp="1"/>
          </p:cNvSpPr>
          <p:nvPr/>
        </p:nvSpPr>
        <p:spPr>
          <a:xfrm>
            <a:off x="590550" y="4448175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A9B50D-9E74-4DEF-A806-A22671F5834D}"/>
              </a:ext>
            </a:extLst>
          </p:cNvPr>
          <p:cNvSpPr>
            <a:spLocks noGrp="1"/>
          </p:cNvSpPr>
          <p:nvPr/>
        </p:nvSpPr>
        <p:spPr>
          <a:xfrm>
            <a:off x="828675" y="4391025"/>
            <a:ext cx="4524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View users and delete regular users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DD0E78F-86E3-4AE5-BC61-4F157B999CD2}"/>
              </a:ext>
            </a:extLst>
          </p:cNvPr>
          <p:cNvSpPr>
            <a:spLocks noGrp="1"/>
          </p:cNvSpPr>
          <p:nvPr/>
        </p:nvSpPr>
        <p:spPr>
          <a:xfrm>
            <a:off x="590550" y="4962525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B1B9DC-55B8-40CA-A348-70E8EE74AB7A}"/>
              </a:ext>
            </a:extLst>
          </p:cNvPr>
          <p:cNvSpPr>
            <a:spLocks noGrp="1"/>
          </p:cNvSpPr>
          <p:nvPr/>
        </p:nvSpPr>
        <p:spPr>
          <a:xfrm>
            <a:off x="828675" y="4905375"/>
            <a:ext cx="4524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Cannot delete self or another admin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EE4047C-A7EE-4DA2-B907-13A1BBE3F54C}"/>
              </a:ext>
            </a:extLst>
          </p:cNvPr>
          <p:cNvSpPr>
            <a:spLocks noGrp="1"/>
          </p:cNvSpPr>
          <p:nvPr/>
        </p:nvSpPr>
        <p:spPr>
          <a:xfrm>
            <a:off x="5962650" y="1428750"/>
            <a:ext cx="19050" cy="4476750"/>
          </a:xfrm>
          <a:prstGeom prst="roundRect">
            <a:avLst>
              <a:gd name="adj" fmla="val 50000"/>
            </a:avLst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580CA1-E733-4026-95A4-14C0E465408B}"/>
              </a:ext>
            </a:extLst>
          </p:cNvPr>
          <p:cNvSpPr>
            <a:spLocks noGrp="1"/>
          </p:cNvSpPr>
          <p:nvPr/>
        </p:nvSpPr>
        <p:spPr>
          <a:xfrm>
            <a:off x="6572250" y="161925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2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9221568-53A9-4105-898B-C6644F2718B5}"/>
              </a:ext>
            </a:extLst>
          </p:cNvPr>
          <p:cNvSpPr>
            <a:spLocks noGrp="1"/>
          </p:cNvSpPr>
          <p:nvPr/>
        </p:nvSpPr>
        <p:spPr>
          <a:xfrm>
            <a:off x="6572250" y="2390775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1A5DAC-8EB5-4C32-86BE-5D50EC18B289}"/>
              </a:ext>
            </a:extLst>
          </p:cNvPr>
          <p:cNvSpPr>
            <a:spLocks noGrp="1"/>
          </p:cNvSpPr>
          <p:nvPr/>
        </p:nvSpPr>
        <p:spPr>
          <a:xfrm>
            <a:off x="6810375" y="2333625"/>
            <a:ext cx="4524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View and search assigned tickets only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FB44AD0-3C0A-4B58-A9CA-3D7483ADB021}"/>
              </a:ext>
            </a:extLst>
          </p:cNvPr>
          <p:cNvSpPr>
            <a:spLocks noGrp="1"/>
          </p:cNvSpPr>
          <p:nvPr/>
        </p:nvSpPr>
        <p:spPr>
          <a:xfrm>
            <a:off x="6572250" y="2905125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8C98AA-130E-4DE5-AF0A-B5D8E8A977C5}"/>
              </a:ext>
            </a:extLst>
          </p:cNvPr>
          <p:cNvSpPr>
            <a:spLocks noGrp="1"/>
          </p:cNvSpPr>
          <p:nvPr/>
        </p:nvSpPr>
        <p:spPr>
          <a:xfrm>
            <a:off x="6810375" y="2847975"/>
            <a:ext cx="4524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Create tickets assigned to self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FF7E2E-3BAB-44C9-8BD3-253540DB4B41}"/>
              </a:ext>
            </a:extLst>
          </p:cNvPr>
          <p:cNvSpPr>
            <a:spLocks noGrp="1"/>
          </p:cNvSpPr>
          <p:nvPr/>
        </p:nvSpPr>
        <p:spPr>
          <a:xfrm>
            <a:off x="6572250" y="3419475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4D8E23C-6345-4A6C-8F1C-6994CE5F8008}"/>
              </a:ext>
            </a:extLst>
          </p:cNvPr>
          <p:cNvSpPr>
            <a:spLocks noGrp="1"/>
          </p:cNvSpPr>
          <p:nvPr/>
        </p:nvSpPr>
        <p:spPr>
          <a:xfrm>
            <a:off x="6810375" y="3362325"/>
            <a:ext cx="4524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Open a ticket to view full details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CCEC454-4852-4F29-91D7-2F0104753C3E}"/>
              </a:ext>
            </a:extLst>
          </p:cNvPr>
          <p:cNvSpPr>
            <a:spLocks noGrp="1"/>
          </p:cNvSpPr>
          <p:nvPr/>
        </p:nvSpPr>
        <p:spPr>
          <a:xfrm>
            <a:off x="6572250" y="3933825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49D3CCE-6894-4F3A-9020-C8683919E0F6}"/>
              </a:ext>
            </a:extLst>
          </p:cNvPr>
          <p:cNvSpPr>
            <a:spLocks noGrp="1"/>
          </p:cNvSpPr>
          <p:nvPr/>
        </p:nvSpPr>
        <p:spPr>
          <a:xfrm>
            <a:off x="6810375" y="3876675"/>
            <a:ext cx="4524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Move Open to In Progress to Complete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0C4BA6D-54B8-4D22-A955-089EE30AA3FA}"/>
              </a:ext>
            </a:extLst>
          </p:cNvPr>
          <p:cNvSpPr>
            <a:spLocks noGrp="1"/>
          </p:cNvSpPr>
          <p:nvPr/>
        </p:nvSpPr>
        <p:spPr>
          <a:xfrm>
            <a:off x="6572250" y="4448175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CE4E934-8907-4573-AEE4-C506D51EA231}"/>
              </a:ext>
            </a:extLst>
          </p:cNvPr>
          <p:cNvSpPr>
            <a:spLocks noGrp="1"/>
          </p:cNvSpPr>
          <p:nvPr/>
        </p:nvSpPr>
        <p:spPr>
          <a:xfrm>
            <a:off x="6810375" y="4391025"/>
            <a:ext cx="4524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Cannot edit or delete ticket records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F4705DA-7CDA-4E41-9947-0A8172FA759E}"/>
              </a:ext>
            </a:extLst>
          </p:cNvPr>
          <p:cNvSpPr>
            <a:spLocks noGrp="1"/>
          </p:cNvSpPr>
          <p:nvPr/>
        </p:nvSpPr>
        <p:spPr>
          <a:xfrm>
            <a:off x="6572250" y="4962525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A1FF65B-252F-4D1D-ACB8-9A9033563C11}"/>
              </a:ext>
            </a:extLst>
          </p:cNvPr>
          <p:cNvSpPr>
            <a:spLocks noGrp="1"/>
          </p:cNvSpPr>
          <p:nvPr/>
        </p:nvSpPr>
        <p:spPr>
          <a:xfrm>
            <a:off x="6810375" y="4905375"/>
            <a:ext cx="4524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Cannot access the team-user directory</a:t>
            </a:r>
          </a:p>
        </p:txBody>
      </p:sp>
    </p:spTree>
    <p:extLst>
      <p:ext uri="{BB962C8B-B14F-4D97-AF65-F5344CB8AC3E}">
        <p14:creationId xmlns:p14="http://schemas.microsoft.com/office/powerpoint/2010/main" val="2026837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974BAF77-4F26-4F62-AE74-D6668D139182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ctr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sz="2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ARCHITECTURE</a:t>
            </a:r>
            <a:endParaRPr sz="285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C13A32-F4CB-45EE-A627-EE765A4E6236}"/>
              </a:ext>
            </a:extLst>
          </p:cNvPr>
          <p:cNvSpPr>
            <a:spLocks noGrp="1"/>
          </p:cNvSpPr>
          <p:nvPr/>
        </p:nvSpPr>
        <p:spPr>
          <a:xfrm>
            <a:off x="400050" y="952500"/>
            <a:ext cx="1066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F6F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F86"/>
                </a:solidFill>
                <a:latin typeface="Arial"/>
                <a:ea typeface="Arial"/>
                <a:cs typeface="Arial"/>
              </a:rPr>
              <a:t>The same flow supports CRUD operations, dashboard counts, and assignment email.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FE713D-26EA-4C4C-B9DE-3E6F2835C871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F6F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F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C3FAAE65-A139-4727-9E57-8B63063F84E9}"/>
              </a:ext>
            </a:extLst>
          </p:cNvPr>
          <p:cNvSpPr>
            <a:spLocks noGrp="1"/>
          </p:cNvSpPr>
          <p:nvPr/>
        </p:nvSpPr>
        <p:spPr>
          <a:xfrm>
            <a:off x="1885950" y="2952750"/>
            <a:ext cx="495300" cy="342900"/>
          </a:xfrm>
          <a:prstGeom prst="rightArrow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82799496-2872-4C18-B107-5430F323D45C}"/>
              </a:ext>
            </a:extLst>
          </p:cNvPr>
          <p:cNvSpPr>
            <a:spLocks noGrp="1"/>
          </p:cNvSpPr>
          <p:nvPr/>
        </p:nvSpPr>
        <p:spPr>
          <a:xfrm>
            <a:off x="4057650" y="2952750"/>
            <a:ext cx="495300" cy="342900"/>
          </a:xfrm>
          <a:prstGeom prst="rightArrow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8C0650C9-AB6C-4972-ACE4-4293D9A264F3}"/>
              </a:ext>
            </a:extLst>
          </p:cNvPr>
          <p:cNvSpPr>
            <a:spLocks noGrp="1"/>
          </p:cNvSpPr>
          <p:nvPr/>
        </p:nvSpPr>
        <p:spPr>
          <a:xfrm>
            <a:off x="6248400" y="2952750"/>
            <a:ext cx="495300" cy="342900"/>
          </a:xfrm>
          <a:prstGeom prst="rightArrow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B2CA2651-B73E-41C2-A616-1DF68CF61121}"/>
              </a:ext>
            </a:extLst>
          </p:cNvPr>
          <p:cNvSpPr>
            <a:spLocks noGrp="1"/>
          </p:cNvSpPr>
          <p:nvPr/>
        </p:nvSpPr>
        <p:spPr>
          <a:xfrm>
            <a:off x="8420100" y="2952750"/>
            <a:ext cx="495300" cy="342900"/>
          </a:xfrm>
          <a:prstGeom prst="rightArrow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017959E2-B009-43D2-BE19-8F45BDD070BB}"/>
              </a:ext>
            </a:extLst>
          </p:cNvPr>
          <p:cNvSpPr>
            <a:spLocks noGrp="1"/>
          </p:cNvSpPr>
          <p:nvPr/>
        </p:nvSpPr>
        <p:spPr>
          <a:xfrm>
            <a:off x="7391400" y="4438650"/>
            <a:ext cx="304800" cy="400050"/>
          </a:xfrm>
          <a:prstGeom prst="downArrow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7D4674C8-A81D-4C95-AC07-CE241261D568}"/>
              </a:ext>
            </a:extLst>
          </p:cNvPr>
          <p:cNvSpPr>
            <a:spLocks noGrp="1"/>
          </p:cNvSpPr>
          <p:nvPr/>
        </p:nvSpPr>
        <p:spPr>
          <a:xfrm>
            <a:off x="8905875" y="5143500"/>
            <a:ext cx="352425" cy="266700"/>
          </a:xfrm>
          <a:prstGeom prst="rightArrow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F272A892-C74A-4023-8EF2-5A77B15C482A}"/>
              </a:ext>
            </a:extLst>
          </p:cNvPr>
          <p:cNvSpPr>
            <a:spLocks noGrp="1"/>
          </p:cNvSpPr>
          <p:nvPr/>
        </p:nvSpPr>
        <p:spPr>
          <a:xfrm>
            <a:off x="10287000" y="5143500"/>
            <a:ext cx="400050" cy="266700"/>
          </a:xfrm>
          <a:prstGeom prst="rightArrow">
            <a:avLst/>
          </a:prstGeom>
          <a:solidFill>
            <a:srgbClr val="D97706"/>
          </a:solidFill>
          <a:ln w="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4A7DEE6-D254-4D9A-8820-5C3E6B2E1D11}"/>
              </a:ext>
            </a:extLst>
          </p:cNvPr>
          <p:cNvSpPr>
            <a:spLocks noGrp="1"/>
          </p:cNvSpPr>
          <p:nvPr/>
        </p:nvSpPr>
        <p:spPr>
          <a:xfrm>
            <a:off x="400050" y="2190750"/>
            <a:ext cx="1485900" cy="1905000"/>
          </a:xfrm>
          <a:prstGeom prst="roundRect">
            <a:avLst>
              <a:gd name="adj" fmla="val 7692"/>
            </a:avLst>
          </a:prstGeom>
          <a:solidFill>
            <a:srgbClr val="DBEAFE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C9C41D-D7CC-419E-9919-E390BFD36D51}"/>
              </a:ext>
            </a:extLst>
          </p:cNvPr>
          <p:cNvSpPr>
            <a:spLocks noGrp="1"/>
          </p:cNvSpPr>
          <p:nvPr/>
        </p:nvSpPr>
        <p:spPr>
          <a:xfrm>
            <a:off x="590550" y="2362200"/>
            <a:ext cx="1104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Actors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C174D7-25B8-4EC2-A0FB-D9275CFA3763}"/>
              </a:ext>
            </a:extLst>
          </p:cNvPr>
          <p:cNvSpPr>
            <a:spLocks noGrp="1"/>
          </p:cNvSpPr>
          <p:nvPr/>
        </p:nvSpPr>
        <p:spPr>
          <a:xfrm>
            <a:off x="590550" y="2743200"/>
            <a:ext cx="11049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Admin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95696E4-525C-4102-A658-261E1F085431}"/>
              </a:ext>
            </a:extLst>
          </p:cNvPr>
          <p:cNvSpPr>
            <a:spLocks noGrp="1"/>
          </p:cNvSpPr>
          <p:nvPr/>
        </p:nvSpPr>
        <p:spPr>
          <a:xfrm>
            <a:off x="2381250" y="1952625"/>
            <a:ext cx="1676400" cy="2381250"/>
          </a:xfrm>
          <a:prstGeom prst="roundRect">
            <a:avLst>
              <a:gd name="adj" fmla="val 6818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46CDCE-28A5-4731-9198-9F72205D05C1}"/>
              </a:ext>
            </a:extLst>
          </p:cNvPr>
          <p:cNvSpPr>
            <a:spLocks noGrp="1"/>
          </p:cNvSpPr>
          <p:nvPr/>
        </p:nvSpPr>
        <p:spPr>
          <a:xfrm>
            <a:off x="2571750" y="2124075"/>
            <a:ext cx="1295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React UI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EB6312-D1F0-46D7-B3D1-A2C34882777A}"/>
              </a:ext>
            </a:extLst>
          </p:cNvPr>
          <p:cNvSpPr>
            <a:spLocks noGrp="1"/>
          </p:cNvSpPr>
          <p:nvPr/>
        </p:nvSpPr>
        <p:spPr>
          <a:xfrm>
            <a:off x="2571750" y="2505075"/>
            <a:ext cx="129540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Routes + pages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localStorage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Axios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localhost:5173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B43C411-8FA1-4166-BF14-65CBB8FA2947}"/>
              </a:ext>
            </a:extLst>
          </p:cNvPr>
          <p:cNvSpPr>
            <a:spLocks noGrp="1"/>
          </p:cNvSpPr>
          <p:nvPr/>
        </p:nvSpPr>
        <p:spPr>
          <a:xfrm>
            <a:off x="4552950" y="1809750"/>
            <a:ext cx="1695450" cy="2667000"/>
          </a:xfrm>
          <a:prstGeom prst="roundRect">
            <a:avLst>
              <a:gd name="adj" fmla="val 6742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5355D42-702B-498F-85F0-62867406FD67}"/>
              </a:ext>
            </a:extLst>
          </p:cNvPr>
          <p:cNvSpPr>
            <a:spLocks noGrp="1"/>
          </p:cNvSpPr>
          <p:nvPr/>
        </p:nvSpPr>
        <p:spPr>
          <a:xfrm>
            <a:off x="4743450" y="1981200"/>
            <a:ext cx="1314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REST API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27EBA4-036D-4A99-B689-1AA18F96E4E2}"/>
              </a:ext>
            </a:extLst>
          </p:cNvPr>
          <p:cNvSpPr>
            <a:spLocks noGrp="1"/>
          </p:cNvSpPr>
          <p:nvPr/>
        </p:nvSpPr>
        <p:spPr>
          <a:xfrm>
            <a:off x="4743450" y="2362200"/>
            <a:ext cx="1314450" cy="1943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Spring MVC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Controllers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X-User-Id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localhost:8080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CB0D8AD-63B9-4C0E-919D-EB0B84D6E61C}"/>
              </a:ext>
            </a:extLst>
          </p:cNvPr>
          <p:cNvSpPr>
            <a:spLocks noGrp="1"/>
          </p:cNvSpPr>
          <p:nvPr/>
        </p:nvSpPr>
        <p:spPr>
          <a:xfrm>
            <a:off x="6743700" y="1809750"/>
            <a:ext cx="1676400" cy="2667000"/>
          </a:xfrm>
          <a:prstGeom prst="roundRect">
            <a:avLst>
              <a:gd name="adj" fmla="val 6818"/>
            </a:avLst>
          </a:prstGeom>
          <a:solidFill>
            <a:srgbClr val="DBEAFE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3E5D4B-03D4-4D9D-8BA1-C4C1793C4194}"/>
              </a:ext>
            </a:extLst>
          </p:cNvPr>
          <p:cNvSpPr>
            <a:spLocks noGrp="1"/>
          </p:cNvSpPr>
          <p:nvPr/>
        </p:nvSpPr>
        <p:spPr>
          <a:xfrm>
            <a:off x="6934200" y="1981200"/>
            <a:ext cx="1295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Services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76EC8F-3068-4E4F-9ECA-56591C5C50B3}"/>
              </a:ext>
            </a:extLst>
          </p:cNvPr>
          <p:cNvSpPr>
            <a:spLocks noGrp="1"/>
          </p:cNvSpPr>
          <p:nvPr/>
        </p:nvSpPr>
        <p:spPr>
          <a:xfrm>
            <a:off x="6934200" y="2362200"/>
            <a:ext cx="1295400" cy="1943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Business rules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Role checks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Status flow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Email trigger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0658925-EEDD-4CCA-8F89-38EEAA85870A}"/>
              </a:ext>
            </a:extLst>
          </p:cNvPr>
          <p:cNvSpPr>
            <a:spLocks noGrp="1"/>
          </p:cNvSpPr>
          <p:nvPr/>
        </p:nvSpPr>
        <p:spPr>
          <a:xfrm>
            <a:off x="8915400" y="1952625"/>
            <a:ext cx="1676400" cy="2381250"/>
          </a:xfrm>
          <a:prstGeom prst="roundRect">
            <a:avLst>
              <a:gd name="adj" fmla="val 6818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CD8A8F-65E4-43CA-9BEE-17B369E81695}"/>
              </a:ext>
            </a:extLst>
          </p:cNvPr>
          <p:cNvSpPr>
            <a:spLocks noGrp="1"/>
          </p:cNvSpPr>
          <p:nvPr/>
        </p:nvSpPr>
        <p:spPr>
          <a:xfrm>
            <a:off x="9105900" y="2124075"/>
            <a:ext cx="1295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Persistence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9E3960-B0D7-484A-94C1-4A13162E3968}"/>
              </a:ext>
            </a:extLst>
          </p:cNvPr>
          <p:cNvSpPr>
            <a:spLocks noGrp="1"/>
          </p:cNvSpPr>
          <p:nvPr/>
        </p:nvSpPr>
        <p:spPr>
          <a:xfrm>
            <a:off x="9105900" y="2505075"/>
            <a:ext cx="129540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Repositories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JPA/Hibernate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JDBC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53288E0-9BB4-4B24-9AEF-D8578205E6F4}"/>
              </a:ext>
            </a:extLst>
          </p:cNvPr>
          <p:cNvSpPr>
            <a:spLocks noGrp="1"/>
          </p:cNvSpPr>
          <p:nvPr/>
        </p:nvSpPr>
        <p:spPr>
          <a:xfrm>
            <a:off x="10687050" y="2190750"/>
            <a:ext cx="1104900" cy="1905000"/>
          </a:xfrm>
          <a:prstGeom prst="roundRect">
            <a:avLst>
              <a:gd name="adj" fmla="val 10345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73D9D6E-C603-4601-B69E-89D2A4C65EFF}"/>
              </a:ext>
            </a:extLst>
          </p:cNvPr>
          <p:cNvSpPr>
            <a:spLocks noGrp="1"/>
          </p:cNvSpPr>
          <p:nvPr/>
        </p:nvSpPr>
        <p:spPr>
          <a:xfrm>
            <a:off x="10877550" y="2362200"/>
            <a:ext cx="723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MySQL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5B4674-8DF6-4F68-98D9-537A9BE5DB4C}"/>
              </a:ext>
            </a:extLst>
          </p:cNvPr>
          <p:cNvSpPr>
            <a:spLocks noGrp="1"/>
          </p:cNvSpPr>
          <p:nvPr/>
        </p:nvSpPr>
        <p:spPr>
          <a:xfrm>
            <a:off x="10877550" y="2743200"/>
            <a:ext cx="72390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users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tickets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28FC20F3-7E83-4E4C-B393-35C58B8389D7}"/>
              </a:ext>
            </a:extLst>
          </p:cNvPr>
          <p:cNvSpPr>
            <a:spLocks noGrp="1"/>
          </p:cNvSpPr>
          <p:nvPr/>
        </p:nvSpPr>
        <p:spPr>
          <a:xfrm>
            <a:off x="7477125" y="4810125"/>
            <a:ext cx="1428750" cy="952500"/>
          </a:xfrm>
          <a:prstGeom prst="roundRect">
            <a:avLst>
              <a:gd name="adj" fmla="val 12000"/>
            </a:avLst>
          </a:prstGeom>
          <a:solidFill>
            <a:srgbClr val="FFF7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C50485A-A5ED-4136-B95A-DDA8B8227F8A}"/>
              </a:ext>
            </a:extLst>
          </p:cNvPr>
          <p:cNvSpPr>
            <a:spLocks noGrp="1"/>
          </p:cNvSpPr>
          <p:nvPr/>
        </p:nvSpPr>
        <p:spPr>
          <a:xfrm>
            <a:off x="7667625" y="4981575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8637" lnSpcReduction="10000"/>
          </a:bodyPr>
          <a:lstStyle/>
          <a:p>
            <a:pPr algn="l">
              <a:defRPr sz="15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Email service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BBE6CF4-17E4-477D-858D-2FD6AD7DC189}"/>
              </a:ext>
            </a:extLst>
          </p:cNvPr>
          <p:cNvSpPr>
            <a:spLocks noGrp="1"/>
          </p:cNvSpPr>
          <p:nvPr/>
        </p:nvSpPr>
        <p:spPr>
          <a:xfrm>
            <a:off x="7667625" y="536257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2985" lnSpcReduction="10000"/>
          </a:bodyPr>
          <a:lstStyle/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JavaMailSender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46917F13-1A87-4FFE-BCD9-7AD9B1EA6EA3}"/>
              </a:ext>
            </a:extLst>
          </p:cNvPr>
          <p:cNvSpPr>
            <a:spLocks noGrp="1"/>
          </p:cNvSpPr>
          <p:nvPr/>
        </p:nvSpPr>
        <p:spPr>
          <a:xfrm>
            <a:off x="9258300" y="4810125"/>
            <a:ext cx="1028700" cy="952500"/>
          </a:xfrm>
          <a:prstGeom prst="roundRect">
            <a:avLst>
              <a:gd name="adj" fmla="val 12000"/>
            </a:avLst>
          </a:prstGeom>
          <a:solidFill>
            <a:srgbClr val="FDF2F8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CE6A66F-DE81-4E9B-B201-314CA67E0BB7}"/>
              </a:ext>
            </a:extLst>
          </p:cNvPr>
          <p:cNvSpPr>
            <a:spLocks noGrp="1"/>
          </p:cNvSpPr>
          <p:nvPr/>
        </p:nvSpPr>
        <p:spPr>
          <a:xfrm>
            <a:off x="9448800" y="4981575"/>
            <a:ext cx="647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Gmail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FF1CD2-5234-43FB-A45C-AE363CD5AC6A}"/>
              </a:ext>
            </a:extLst>
          </p:cNvPr>
          <p:cNvSpPr>
            <a:spLocks noGrp="1"/>
          </p:cNvSpPr>
          <p:nvPr/>
        </p:nvSpPr>
        <p:spPr>
          <a:xfrm>
            <a:off x="9448800" y="5362575"/>
            <a:ext cx="647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326" lnSpcReduction="20000"/>
          </a:bodyPr>
          <a:lstStyle/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SMTP/TLS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FCF52A6D-1DD0-4BF6-8F84-DC58892EC0B8}"/>
              </a:ext>
            </a:extLst>
          </p:cNvPr>
          <p:cNvSpPr>
            <a:spLocks noGrp="1"/>
          </p:cNvSpPr>
          <p:nvPr/>
        </p:nvSpPr>
        <p:spPr>
          <a:xfrm>
            <a:off x="10687050" y="4810125"/>
            <a:ext cx="1104900" cy="95250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C4ACE42-D188-4AC5-A128-2C47FAB75D17}"/>
              </a:ext>
            </a:extLst>
          </p:cNvPr>
          <p:cNvSpPr>
            <a:spLocks noGrp="1"/>
          </p:cNvSpPr>
          <p:nvPr/>
        </p:nvSpPr>
        <p:spPr>
          <a:xfrm>
            <a:off x="10877550" y="4981575"/>
            <a:ext cx="723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Inbox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113920E-37F6-4704-9746-285589437B33}"/>
              </a:ext>
            </a:extLst>
          </p:cNvPr>
          <p:cNvSpPr>
            <a:spLocks noGrp="1"/>
          </p:cNvSpPr>
          <p:nvPr/>
        </p:nvSpPr>
        <p:spPr>
          <a:xfrm>
            <a:off x="10877550" y="5362575"/>
            <a:ext cx="723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8803" lnSpcReduction="10000"/>
          </a:bodyPr>
          <a:lstStyle/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Assigned user</a:t>
            </a:r>
          </a:p>
        </p:txBody>
      </p:sp>
    </p:spTree>
    <p:extLst>
      <p:ext uri="{BB962C8B-B14F-4D97-AF65-F5344CB8AC3E}">
        <p14:creationId xmlns:p14="http://schemas.microsoft.com/office/powerpoint/2010/main" val="484766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1EEB3B3-1656-480E-B2FC-056F5723B94D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ClickUp-inspired React interface keeps every action visible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E0C513-2CD0-48CF-A627-91A77187C51C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F6F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F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00050" y="1490329"/>
            <a:ext cx="7239000" cy="4401218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7C0AC41A-10CB-47C1-A1AB-728864DDEAD7}"/>
              </a:ext>
            </a:extLst>
          </p:cNvPr>
          <p:cNvSpPr>
            <a:spLocks noGrp="1"/>
          </p:cNvSpPr>
          <p:nvPr/>
        </p:nvSpPr>
        <p:spPr>
          <a:xfrm>
            <a:off x="8096250" y="1724025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123046-5644-4FB9-A212-17CC0C896011}"/>
              </a:ext>
            </a:extLst>
          </p:cNvPr>
          <p:cNvSpPr>
            <a:spLocks noGrp="1"/>
          </p:cNvSpPr>
          <p:nvPr/>
        </p:nvSpPr>
        <p:spPr>
          <a:xfrm>
            <a:off x="8334375" y="1666875"/>
            <a:ext cx="3190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Protected routes after login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BC8AD3B-B467-46BB-B67E-243901E4A464}"/>
              </a:ext>
            </a:extLst>
          </p:cNvPr>
          <p:cNvSpPr>
            <a:spLocks noGrp="1"/>
          </p:cNvSpPr>
          <p:nvPr/>
        </p:nvSpPr>
        <p:spPr>
          <a:xfrm>
            <a:off x="8096250" y="2371725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4CBC0F-9FE6-4835-A03D-AC31CE18F104}"/>
              </a:ext>
            </a:extLst>
          </p:cNvPr>
          <p:cNvSpPr>
            <a:spLocks noGrp="1"/>
          </p:cNvSpPr>
          <p:nvPr/>
        </p:nvSpPr>
        <p:spPr>
          <a:xfrm>
            <a:off x="8334375" y="2314575"/>
            <a:ext cx="3190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Sidebar navigation and responsive layout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B932ACB-D2CF-4067-A6E1-FC7AD31C9F2C}"/>
              </a:ext>
            </a:extLst>
          </p:cNvPr>
          <p:cNvSpPr>
            <a:spLocks noGrp="1"/>
          </p:cNvSpPr>
          <p:nvPr/>
        </p:nvSpPr>
        <p:spPr>
          <a:xfrm>
            <a:off x="8096250" y="3019425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6F8DB2-0B9A-4BA8-B777-8B606A3E113B}"/>
              </a:ext>
            </a:extLst>
          </p:cNvPr>
          <p:cNvSpPr>
            <a:spLocks noGrp="1"/>
          </p:cNvSpPr>
          <p:nvPr/>
        </p:nvSpPr>
        <p:spPr>
          <a:xfrm>
            <a:off x="8334375" y="2962275"/>
            <a:ext cx="3190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Ticket list, details, create and edit pages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39AB7D5-60AE-4034-9E47-F55AAA6C08E5}"/>
              </a:ext>
            </a:extLst>
          </p:cNvPr>
          <p:cNvSpPr>
            <a:spLocks noGrp="1"/>
          </p:cNvSpPr>
          <p:nvPr/>
        </p:nvSpPr>
        <p:spPr>
          <a:xfrm>
            <a:off x="8096250" y="3667125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DD4251-C30A-4F40-A5AF-2EDC5681EE18}"/>
              </a:ext>
            </a:extLst>
          </p:cNvPr>
          <p:cNvSpPr>
            <a:spLocks noGrp="1"/>
          </p:cNvSpPr>
          <p:nvPr/>
        </p:nvSpPr>
        <p:spPr>
          <a:xfrm>
            <a:off x="8334375" y="3609975"/>
            <a:ext cx="3190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Status and priority badges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707CB58-8E56-421E-902F-03CBDE971034}"/>
              </a:ext>
            </a:extLst>
          </p:cNvPr>
          <p:cNvSpPr>
            <a:spLocks noGrp="1"/>
          </p:cNvSpPr>
          <p:nvPr/>
        </p:nvSpPr>
        <p:spPr>
          <a:xfrm>
            <a:off x="8096250" y="4314825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095BF8-CB01-4727-B117-168564F6BD06}"/>
              </a:ext>
            </a:extLst>
          </p:cNvPr>
          <p:cNvSpPr>
            <a:spLocks noGrp="1"/>
          </p:cNvSpPr>
          <p:nvPr/>
        </p:nvSpPr>
        <p:spPr>
          <a:xfrm>
            <a:off x="8334375" y="4257675"/>
            <a:ext cx="3190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Admin-only Users page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B4F7CE6-5A81-4E22-AEA3-8D795C44DFF5}"/>
              </a:ext>
            </a:extLst>
          </p:cNvPr>
          <p:cNvSpPr>
            <a:spLocks noGrp="1"/>
          </p:cNvSpPr>
          <p:nvPr/>
        </p:nvSpPr>
        <p:spPr>
          <a:xfrm>
            <a:off x="8096250" y="4962525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1D36CF-758E-44B0-AD50-BB449F0B4E3B}"/>
              </a:ext>
            </a:extLst>
          </p:cNvPr>
          <p:cNvSpPr>
            <a:spLocks noGrp="1"/>
          </p:cNvSpPr>
          <p:nvPr/>
        </p:nvSpPr>
        <p:spPr>
          <a:xfrm>
            <a:off x="8334375" y="4905375"/>
            <a:ext cx="3190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Axios integrates every page with the API</a:t>
            </a:r>
          </a:p>
        </p:txBody>
      </p:sp>
    </p:spTree>
    <p:extLst>
      <p:ext uri="{BB962C8B-B14F-4D97-AF65-F5344CB8AC3E}">
        <p14:creationId xmlns:p14="http://schemas.microsoft.com/office/powerpoint/2010/main" val="497793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2D4100B-85B2-4B7F-890D-EE30CCA57C50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ctr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sz="2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BACKEND LAYERS</a:t>
            </a:r>
            <a:endParaRPr sz="285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7AD318-A396-4A52-AAA7-CF7AF1B50DBA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F6F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F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1E3ECCF-D4B2-45ED-849E-B09C7189DF0C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5334000" cy="1666875"/>
          </a:xfrm>
          <a:prstGeom prst="roundRect">
            <a:avLst>
              <a:gd name="adj" fmla="val 6857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0E41A2-4C78-4C03-A64B-A150A892FB69}"/>
              </a:ext>
            </a:extLst>
          </p:cNvPr>
          <p:cNvSpPr>
            <a:spLocks noGrp="1"/>
          </p:cNvSpPr>
          <p:nvPr/>
        </p:nvSpPr>
        <p:spPr>
          <a:xfrm>
            <a:off x="590550" y="179070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Controllers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6567A2-28B2-49E9-AAA5-7718510A2062}"/>
              </a:ext>
            </a:extLst>
          </p:cNvPr>
          <p:cNvSpPr>
            <a:spLocks noGrp="1"/>
          </p:cNvSpPr>
          <p:nvPr/>
        </p:nvSpPr>
        <p:spPr>
          <a:xfrm>
            <a:off x="590550" y="2171700"/>
            <a:ext cx="4953000" cy="942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UserController, TicketController, and DashboardController expose JSON endpoints and translate HTTP inputs into service calls.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B5F9FC8-CDA3-4275-92BA-CCF6910AA6FB}"/>
              </a:ext>
            </a:extLst>
          </p:cNvPr>
          <p:cNvSpPr>
            <a:spLocks noGrp="1"/>
          </p:cNvSpPr>
          <p:nvPr/>
        </p:nvSpPr>
        <p:spPr>
          <a:xfrm>
            <a:off x="6076950" y="1619250"/>
            <a:ext cx="5715000" cy="1666875"/>
          </a:xfrm>
          <a:prstGeom prst="roundRect">
            <a:avLst>
              <a:gd name="adj" fmla="val 6857"/>
            </a:avLst>
          </a:prstGeom>
          <a:solidFill>
            <a:srgbClr val="DBEAFE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A3892E-42A6-47FE-9B3B-D962E9B78C8B}"/>
              </a:ext>
            </a:extLst>
          </p:cNvPr>
          <p:cNvSpPr>
            <a:spLocks noGrp="1"/>
          </p:cNvSpPr>
          <p:nvPr/>
        </p:nvSpPr>
        <p:spPr>
          <a:xfrm>
            <a:off x="6267450" y="179070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Services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5D07F2-1C00-4B20-8BF6-5E0872DD1C13}"/>
              </a:ext>
            </a:extLst>
          </p:cNvPr>
          <p:cNvSpPr>
            <a:spLocks noGrp="1"/>
          </p:cNvSpPr>
          <p:nvPr/>
        </p:nvSpPr>
        <p:spPr>
          <a:xfrm>
            <a:off x="6267450" y="2171700"/>
            <a:ext cx="5334000" cy="942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UserService, TicketService, and EmailService enforce roles, assignment rules, status transitions, duplicate-email checks, and notification behavior.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F4C9AA2-BB2F-4EA9-BBDB-A4BE9306BDB7}"/>
              </a:ext>
            </a:extLst>
          </p:cNvPr>
          <p:cNvSpPr>
            <a:spLocks noGrp="1"/>
          </p:cNvSpPr>
          <p:nvPr/>
        </p:nvSpPr>
        <p:spPr>
          <a:xfrm>
            <a:off x="400050" y="3714750"/>
            <a:ext cx="5334000" cy="1666875"/>
          </a:xfrm>
          <a:prstGeom prst="roundRect">
            <a:avLst>
              <a:gd name="adj" fmla="val 6857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9A100C-CA82-4E1E-AF3E-9AD4A03CCFB2}"/>
              </a:ext>
            </a:extLst>
          </p:cNvPr>
          <p:cNvSpPr>
            <a:spLocks noGrp="1"/>
          </p:cNvSpPr>
          <p:nvPr/>
        </p:nvSpPr>
        <p:spPr>
          <a:xfrm>
            <a:off x="590550" y="388620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Repositories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17154D-90CD-4F40-A798-F05DAF601EAA}"/>
              </a:ext>
            </a:extLst>
          </p:cNvPr>
          <p:cNvSpPr>
            <a:spLocks noGrp="1"/>
          </p:cNvSpPr>
          <p:nvPr/>
        </p:nvSpPr>
        <p:spPr>
          <a:xfrm>
            <a:off x="590550" y="4267200"/>
            <a:ext cx="4953000" cy="942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UserRepository and TicketRepository extend JpaRepository and add email, assignee, title-search, status, and priority queries.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834BDAF-01EC-41DB-B0FD-2BF6D47A1435}"/>
              </a:ext>
            </a:extLst>
          </p:cNvPr>
          <p:cNvSpPr>
            <a:spLocks noGrp="1"/>
          </p:cNvSpPr>
          <p:nvPr/>
        </p:nvSpPr>
        <p:spPr>
          <a:xfrm>
            <a:off x="6076950" y="3714750"/>
            <a:ext cx="5715000" cy="1666875"/>
          </a:xfrm>
          <a:prstGeom prst="roundRect">
            <a:avLst>
              <a:gd name="adj" fmla="val 6857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9C4B90-40C4-4961-B33E-25D80B051318}"/>
              </a:ext>
            </a:extLst>
          </p:cNvPr>
          <p:cNvSpPr>
            <a:spLocks noGrp="1"/>
          </p:cNvSpPr>
          <p:nvPr/>
        </p:nvSpPr>
        <p:spPr>
          <a:xfrm>
            <a:off x="6267450" y="388620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Entities and ORM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691F4D-3654-4D63-939F-33147D381EF4}"/>
              </a:ext>
            </a:extLst>
          </p:cNvPr>
          <p:cNvSpPr>
            <a:spLocks noGrp="1"/>
          </p:cNvSpPr>
          <p:nvPr/>
        </p:nvSpPr>
        <p:spPr>
          <a:xfrm>
            <a:off x="6267450" y="4267200"/>
            <a:ext cx="5334000" cy="942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User and Ticket entities map Java fields to MySQL tables. Hibernate generates SQL and maintains the schema in update mode.</a:t>
            </a:r>
          </a:p>
        </p:txBody>
      </p:sp>
    </p:spTree>
    <p:extLst>
      <p:ext uri="{BB962C8B-B14F-4D97-AF65-F5344CB8AC3E}">
        <p14:creationId xmlns:p14="http://schemas.microsoft.com/office/powerpoint/2010/main" val="679208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4EC1C9B-23FA-4860-87CD-0DF0AC898F29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ctr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sz="2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TWO TAABLE MODEL</a:t>
            </a:r>
            <a:endParaRPr sz="285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32BDAF-9F18-4F50-A463-392D7182E679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F6F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F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0942606-7B75-4967-B481-785EEE67D0A7}"/>
              </a:ext>
            </a:extLst>
          </p:cNvPr>
          <p:cNvSpPr>
            <a:spLocks noGrp="1"/>
          </p:cNvSpPr>
          <p:nvPr/>
        </p:nvSpPr>
        <p:spPr>
          <a:xfrm>
            <a:off x="590550" y="1666875"/>
            <a:ext cx="4381500" cy="3714750"/>
          </a:xfrm>
          <a:prstGeom prst="roundRect">
            <a:avLst>
              <a:gd name="adj" fmla="val 3077"/>
            </a:avLst>
          </a:prstGeom>
          <a:solidFill>
            <a:srgbClr val="DBEAFE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E8B134-21A6-46E4-9B34-621EC3B0ADEE}"/>
              </a:ext>
            </a:extLst>
          </p:cNvPr>
          <p:cNvSpPr>
            <a:spLocks noGrp="1"/>
          </p:cNvSpPr>
          <p:nvPr/>
        </p:nvSpPr>
        <p:spPr>
          <a:xfrm>
            <a:off x="781050" y="1838325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23A4E9-1ACE-4470-A933-95163A0C75DB}"/>
              </a:ext>
            </a:extLst>
          </p:cNvPr>
          <p:cNvSpPr>
            <a:spLocks noGrp="1"/>
          </p:cNvSpPr>
          <p:nvPr/>
        </p:nvSpPr>
        <p:spPr>
          <a:xfrm>
            <a:off x="781050" y="2219325"/>
            <a:ext cx="4000500" cy="2990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id — Long, primary key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name — String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email — String, login/search key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password — String, write-only in JSON responses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role — ADMIN or USER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69810B24-3AF5-4D20-B8CC-1C8565A1D1A7}"/>
              </a:ext>
            </a:extLst>
          </p:cNvPr>
          <p:cNvSpPr>
            <a:spLocks noGrp="1"/>
          </p:cNvSpPr>
          <p:nvPr/>
        </p:nvSpPr>
        <p:spPr>
          <a:xfrm>
            <a:off x="5238750" y="3095625"/>
            <a:ext cx="1143000" cy="457200"/>
          </a:xfrm>
          <a:prstGeom prst="rightArrow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5A74CC-CBC9-4C7F-8708-EDE605048BEB}"/>
              </a:ext>
            </a:extLst>
          </p:cNvPr>
          <p:cNvSpPr>
            <a:spLocks noGrp="1"/>
          </p:cNvSpPr>
          <p:nvPr/>
        </p:nvSpPr>
        <p:spPr>
          <a:xfrm>
            <a:off x="5191125" y="3667125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assignedUserId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C733442-EFA2-4B91-927F-21D3D1323F44}"/>
              </a:ext>
            </a:extLst>
          </p:cNvPr>
          <p:cNvSpPr>
            <a:spLocks noGrp="1"/>
          </p:cNvSpPr>
          <p:nvPr/>
        </p:nvSpPr>
        <p:spPr>
          <a:xfrm>
            <a:off x="6667500" y="1666875"/>
            <a:ext cx="4762500" cy="3714750"/>
          </a:xfrm>
          <a:prstGeom prst="roundRect">
            <a:avLst>
              <a:gd name="adj" fmla="val 3077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10CE18-A21E-484C-9045-2502CD4B8DFD}"/>
              </a:ext>
            </a:extLst>
          </p:cNvPr>
          <p:cNvSpPr>
            <a:spLocks noGrp="1"/>
          </p:cNvSpPr>
          <p:nvPr/>
        </p:nvSpPr>
        <p:spPr>
          <a:xfrm>
            <a:off x="6858000" y="1838325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tickets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645536-4852-480D-8BEC-74FF9AD7A9FC}"/>
              </a:ext>
            </a:extLst>
          </p:cNvPr>
          <p:cNvSpPr>
            <a:spLocks noGrp="1"/>
          </p:cNvSpPr>
          <p:nvPr/>
        </p:nvSpPr>
        <p:spPr>
          <a:xfrm>
            <a:off x="6858000" y="2219325"/>
            <a:ext cx="4381500" cy="2990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id — Long, primary key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title — String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description — String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priority — Low / Medium / High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status — Open / In Progress / Complete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dueDate — LocalDate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assignedUserId — Long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548D96-2F65-42A5-BE71-F882CE4AEB3E}"/>
              </a:ext>
            </a:extLst>
          </p:cNvPr>
          <p:cNvSpPr>
            <a:spLocks noGrp="1"/>
          </p:cNvSpPr>
          <p:nvPr/>
        </p:nvSpPr>
        <p:spPr>
          <a:xfrm>
            <a:off x="2952750" y="5667375"/>
            <a:ext cx="628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75" b="0">
                <a:solidFill>
                  <a:srgbClr val="5F6F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6F86"/>
                </a:solidFill>
                <a:latin typeface="Arial"/>
                <a:ea typeface="Arial"/>
                <a:cs typeface="Arial"/>
              </a:rPr>
              <a:t>The relationship is stored as an assignee ID rather than a JPA entity association.</a:t>
            </a:r>
          </a:p>
        </p:txBody>
      </p:sp>
    </p:spTree>
    <p:extLst>
      <p:ext uri="{BB962C8B-B14F-4D97-AF65-F5344CB8AC3E}">
        <p14:creationId xmlns:p14="http://schemas.microsoft.com/office/powerpoint/2010/main" val="1725106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E6632A3-1CA2-44B7-A6A6-3BE22179055E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ctr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sz="2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TICKET WORKFLOW</a:t>
            </a:r>
            <a:endParaRPr sz="285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4400A3-42E5-4D8A-BF9C-DF79A0695C22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F6F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F8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BA798072-FDC6-477A-B839-A18228D2CACF}"/>
              </a:ext>
            </a:extLst>
          </p:cNvPr>
          <p:cNvSpPr>
            <a:spLocks noGrp="1"/>
          </p:cNvSpPr>
          <p:nvPr/>
        </p:nvSpPr>
        <p:spPr>
          <a:xfrm>
            <a:off x="3333750" y="2857500"/>
            <a:ext cx="1333500" cy="514350"/>
          </a:xfrm>
          <a:prstGeom prst="rightArrow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5662345A-10E6-49B3-A96D-B1A57E842279}"/>
              </a:ext>
            </a:extLst>
          </p:cNvPr>
          <p:cNvSpPr>
            <a:spLocks noGrp="1"/>
          </p:cNvSpPr>
          <p:nvPr/>
        </p:nvSpPr>
        <p:spPr>
          <a:xfrm>
            <a:off x="7524750" y="2857500"/>
            <a:ext cx="1333500" cy="514350"/>
          </a:xfrm>
          <a:prstGeom prst="rightArrow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9116F04-B751-4BD1-9BCE-323F23778702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2667000" cy="2095500"/>
          </a:xfrm>
          <a:prstGeom prst="roundRect">
            <a:avLst>
              <a:gd name="adj" fmla="val 5455"/>
            </a:avLst>
          </a:prstGeom>
          <a:solidFill>
            <a:srgbClr val="DBEAFE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D9013A-95EA-43AD-B78A-E672FD242344}"/>
              </a:ext>
            </a:extLst>
          </p:cNvPr>
          <p:cNvSpPr>
            <a:spLocks noGrp="1"/>
          </p:cNvSpPr>
          <p:nvPr/>
        </p:nvSpPr>
        <p:spPr>
          <a:xfrm>
            <a:off x="857250" y="22669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00B69C-692A-4700-8354-7A2D269848CA}"/>
              </a:ext>
            </a:extLst>
          </p:cNvPr>
          <p:cNvSpPr>
            <a:spLocks noGrp="1"/>
          </p:cNvSpPr>
          <p:nvPr/>
        </p:nvSpPr>
        <p:spPr>
          <a:xfrm>
            <a:off x="857250" y="2647950"/>
            <a:ext cx="22860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Created state.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assigned user can select Start Ticket.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6578AEC-6780-45A5-B821-2331F62EB28A}"/>
              </a:ext>
            </a:extLst>
          </p:cNvPr>
          <p:cNvSpPr>
            <a:spLocks noGrp="1"/>
          </p:cNvSpPr>
          <p:nvPr/>
        </p:nvSpPr>
        <p:spPr>
          <a:xfrm>
            <a:off x="4667250" y="2095500"/>
            <a:ext cx="2857500" cy="2095500"/>
          </a:xfrm>
          <a:prstGeom prst="roundRect">
            <a:avLst>
              <a:gd name="adj" fmla="val 5455"/>
            </a:avLst>
          </a:prstGeom>
          <a:solidFill>
            <a:srgbClr val="FFEDD5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EEEC51-4B30-44CA-983D-23A0DAF4095C}"/>
              </a:ext>
            </a:extLst>
          </p:cNvPr>
          <p:cNvSpPr>
            <a:spLocks noGrp="1"/>
          </p:cNvSpPr>
          <p:nvPr/>
        </p:nvSpPr>
        <p:spPr>
          <a:xfrm>
            <a:off x="4857750" y="22669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091226-18E0-449D-B90A-7F11CCF4CA55}"/>
              </a:ext>
            </a:extLst>
          </p:cNvPr>
          <p:cNvSpPr>
            <a:spLocks noGrp="1"/>
          </p:cNvSpPr>
          <p:nvPr/>
        </p:nvSpPr>
        <p:spPr>
          <a:xfrm>
            <a:off x="4857750" y="2647950"/>
            <a:ext cx="24765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Active work state.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assigned user can select Mark Complete.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8276128-CA4F-4FD3-8254-39EDEB6BEBC2}"/>
              </a:ext>
            </a:extLst>
          </p:cNvPr>
          <p:cNvSpPr>
            <a:spLocks noGrp="1"/>
          </p:cNvSpPr>
          <p:nvPr/>
        </p:nvSpPr>
        <p:spPr>
          <a:xfrm>
            <a:off x="8858250" y="2095500"/>
            <a:ext cx="2667000" cy="2095500"/>
          </a:xfrm>
          <a:prstGeom prst="roundRect">
            <a:avLst>
              <a:gd name="adj" fmla="val 5455"/>
            </a:avLst>
          </a:prstGeom>
          <a:solidFill>
            <a:srgbClr val="DCFCE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EE34E6-C0CC-438A-B7CC-1E9E966B50B5}"/>
              </a:ext>
            </a:extLst>
          </p:cNvPr>
          <p:cNvSpPr>
            <a:spLocks noGrp="1"/>
          </p:cNvSpPr>
          <p:nvPr/>
        </p:nvSpPr>
        <p:spPr>
          <a:xfrm>
            <a:off x="9048750" y="22669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2275FD-0210-4B6C-A311-40CC66AD985D}"/>
              </a:ext>
            </a:extLst>
          </p:cNvPr>
          <p:cNvSpPr>
            <a:spLocks noGrp="1"/>
          </p:cNvSpPr>
          <p:nvPr/>
        </p:nvSpPr>
        <p:spPr>
          <a:xfrm>
            <a:off x="9048750" y="2647950"/>
            <a:ext cx="22860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Finished state.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Displayed in green across list, details, and dashboard.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A89C73-6815-4F52-A18F-F36C30AC9201}"/>
              </a:ext>
            </a:extLst>
          </p:cNvPr>
          <p:cNvSpPr>
            <a:spLocks noGrp="1"/>
          </p:cNvSpPr>
          <p:nvPr/>
        </p:nvSpPr>
        <p:spPr>
          <a:xfrm>
            <a:off x="1619250" y="4857750"/>
            <a:ext cx="895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Only admins and the assigned user may advance a ticket. Users cannot use full edit or delete operations.</a:t>
            </a:r>
          </a:p>
        </p:txBody>
      </p:sp>
    </p:spTree>
    <p:extLst>
      <p:ext uri="{BB962C8B-B14F-4D97-AF65-F5344CB8AC3E}">
        <p14:creationId xmlns:p14="http://schemas.microsoft.com/office/powerpoint/2010/main" val="1703389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3206BA-E524-4179-A73A-1C905F20AED7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REST endpoints map directly to the user journeys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110EDA-FEEF-4A02-B22C-6038EA5E7F66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F6F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F8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B826E06-8210-4035-8DAA-B9F0B1AA4BFE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3619500" cy="4476750"/>
          </a:xfrm>
          <a:prstGeom prst="roundRect">
            <a:avLst>
              <a:gd name="adj" fmla="val 3158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3D90FB-08A6-4AA1-9D52-3CB7C79BC021}"/>
              </a:ext>
            </a:extLst>
          </p:cNvPr>
          <p:cNvSpPr>
            <a:spLocks noGrp="1"/>
          </p:cNvSpPr>
          <p:nvPr/>
        </p:nvSpPr>
        <p:spPr>
          <a:xfrm>
            <a:off x="590550" y="1552575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Users /api/users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9316E5-88D6-4C8C-BE10-4FAADBCF2A3A}"/>
              </a:ext>
            </a:extLst>
          </p:cNvPr>
          <p:cNvSpPr>
            <a:spLocks noGrp="1"/>
          </p:cNvSpPr>
          <p:nvPr/>
        </p:nvSpPr>
        <p:spPr>
          <a:xfrm>
            <a:off x="590550" y="1933575"/>
            <a:ext cx="3238500" cy="3752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POST  /register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POST  /login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GET   /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DELETE /{id}</a:t>
            </a:r>
          </a:p>
          <a:p>
            <a:endParaRPr sz="1275" b="0">
              <a:solidFill>
                <a:srgbClr val="0B1F3A"/>
              </a:solidFill>
              <a:latin typeface="Arial"/>
              <a:ea typeface="Arial"/>
              <a:cs typeface="Arial"/>
            </a:endParaRP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Admin ID is supplied in the X-User-Id header for protected operations.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A87791B-02A5-4F01-899F-6C49B7DECA7E}"/>
              </a:ext>
            </a:extLst>
          </p:cNvPr>
          <p:cNvSpPr>
            <a:spLocks noGrp="1"/>
          </p:cNvSpPr>
          <p:nvPr/>
        </p:nvSpPr>
        <p:spPr>
          <a:xfrm>
            <a:off x="4286250" y="1381125"/>
            <a:ext cx="4476750" cy="447675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F71783-6C2E-46A7-A264-EE7DA35B1703}"/>
              </a:ext>
            </a:extLst>
          </p:cNvPr>
          <p:cNvSpPr>
            <a:spLocks noGrp="1"/>
          </p:cNvSpPr>
          <p:nvPr/>
        </p:nvSpPr>
        <p:spPr>
          <a:xfrm>
            <a:off x="4476750" y="155257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Tickets /api/tickets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2424D0-54F4-469B-A4C6-9AC78FB3D713}"/>
              </a:ext>
            </a:extLst>
          </p:cNvPr>
          <p:cNvSpPr>
            <a:spLocks noGrp="1"/>
          </p:cNvSpPr>
          <p:nvPr/>
        </p:nvSpPr>
        <p:spPr>
          <a:xfrm>
            <a:off x="4476750" y="1933575"/>
            <a:ext cx="4095750" cy="3752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POST   /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GET    /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GET    /{id}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PUT    /{id}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PATCH  /{id}/status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DELETE /{id}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GET    /search?title=...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74D0C12-103F-4A8E-97B3-9C5432541E73}"/>
              </a:ext>
            </a:extLst>
          </p:cNvPr>
          <p:cNvSpPr>
            <a:spLocks noGrp="1"/>
          </p:cNvSpPr>
          <p:nvPr/>
        </p:nvSpPr>
        <p:spPr>
          <a:xfrm>
            <a:off x="9029700" y="1381125"/>
            <a:ext cx="2762250" cy="4476750"/>
          </a:xfrm>
          <a:prstGeom prst="roundRect">
            <a:avLst>
              <a:gd name="adj" fmla="val 4138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F02654-3A76-46F0-AB39-03DBB53576BA}"/>
              </a:ext>
            </a:extLst>
          </p:cNvPr>
          <p:cNvSpPr>
            <a:spLocks noGrp="1"/>
          </p:cNvSpPr>
          <p:nvPr/>
        </p:nvSpPr>
        <p:spPr>
          <a:xfrm>
            <a:off x="9220200" y="155257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F00C6C-2779-4A7A-AFED-2FDC6FCD0E62}"/>
              </a:ext>
            </a:extLst>
          </p:cNvPr>
          <p:cNvSpPr>
            <a:spLocks noGrp="1"/>
          </p:cNvSpPr>
          <p:nvPr/>
        </p:nvSpPr>
        <p:spPr>
          <a:xfrm>
            <a:off x="9220200" y="1933575"/>
            <a:ext cx="2381250" cy="3752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GET /api/dashboard</a:t>
            </a:r>
          </a:p>
          <a:p>
            <a:endParaRPr sz="1275" b="0">
              <a:solidFill>
                <a:srgbClr val="0B1F3A"/>
              </a:solidFill>
              <a:latin typeface="Arial"/>
              <a:ea typeface="Arial"/>
              <a:cs typeface="Arial"/>
            </a:endParaRP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Returns total tickets plus counts by status and priority for cards and charts.</a:t>
            </a:r>
          </a:p>
        </p:txBody>
      </p:sp>
    </p:spTree>
    <p:extLst>
      <p:ext uri="{BB962C8B-B14F-4D97-AF65-F5344CB8AC3E}">
        <p14:creationId xmlns:p14="http://schemas.microsoft.com/office/powerpoint/2010/main" val="1058990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E6CF75F-B7C0-4158-B711-9AF621FEF67E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ctr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sz="2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ASSIGNMENT EMAIL</a:t>
            </a:r>
            <a:endParaRPr sz="285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76C93A-C6CB-4B6F-B8F2-EF416844CBC9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F6F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F8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8B3CD424-CCCA-4A74-8065-9B1D753785CD}"/>
              </a:ext>
            </a:extLst>
          </p:cNvPr>
          <p:cNvSpPr>
            <a:spLocks noGrp="1"/>
          </p:cNvSpPr>
          <p:nvPr/>
        </p:nvSpPr>
        <p:spPr>
          <a:xfrm>
            <a:off x="2571750" y="2809875"/>
            <a:ext cx="742950" cy="400050"/>
          </a:xfrm>
          <a:prstGeom prst="rightArrow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DC01B488-4748-4211-B97F-3DE0FBC09208}"/>
              </a:ext>
            </a:extLst>
          </p:cNvPr>
          <p:cNvSpPr>
            <a:spLocks noGrp="1"/>
          </p:cNvSpPr>
          <p:nvPr/>
        </p:nvSpPr>
        <p:spPr>
          <a:xfrm>
            <a:off x="5572125" y="2809875"/>
            <a:ext cx="742950" cy="400050"/>
          </a:xfrm>
          <a:prstGeom prst="rightArrow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4C2473C7-FBB1-45BF-AE29-40CDDA312E19}"/>
              </a:ext>
            </a:extLst>
          </p:cNvPr>
          <p:cNvSpPr>
            <a:spLocks noGrp="1"/>
          </p:cNvSpPr>
          <p:nvPr/>
        </p:nvSpPr>
        <p:spPr>
          <a:xfrm>
            <a:off x="8572500" y="2809875"/>
            <a:ext cx="742950" cy="400050"/>
          </a:xfrm>
          <a:prstGeom prst="rightArrow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935A84E-0551-42F5-ABA9-045135D75FB8}"/>
              </a:ext>
            </a:extLst>
          </p:cNvPr>
          <p:cNvSpPr>
            <a:spLocks noGrp="1"/>
          </p:cNvSpPr>
          <p:nvPr/>
        </p:nvSpPr>
        <p:spPr>
          <a:xfrm>
            <a:off x="495300" y="2095500"/>
            <a:ext cx="2076450" cy="1809750"/>
          </a:xfrm>
          <a:prstGeom prst="roundRect">
            <a:avLst>
              <a:gd name="adj" fmla="val 6316"/>
            </a:avLst>
          </a:prstGeom>
          <a:solidFill>
            <a:srgbClr val="DBEAFE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7352FF-2E38-4A94-8DC1-F142A65E6146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1695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1. Save ticket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A4083C-21A7-4B0A-B90B-ACAE61B5BDE7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169545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TicketService validates actor, assignee, and status, then stores the record.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FD5C056-15BC-4058-AF27-54F80A08C7FC}"/>
              </a:ext>
            </a:extLst>
          </p:cNvPr>
          <p:cNvSpPr>
            <a:spLocks noGrp="1"/>
          </p:cNvSpPr>
          <p:nvPr/>
        </p:nvSpPr>
        <p:spPr>
          <a:xfrm>
            <a:off x="3314700" y="2095500"/>
            <a:ext cx="2257425" cy="1809750"/>
          </a:xfrm>
          <a:prstGeom prst="roundRect">
            <a:avLst>
              <a:gd name="adj" fmla="val 6316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76B3D6-89C1-4241-A683-419A36D16D7C}"/>
              </a:ext>
            </a:extLst>
          </p:cNvPr>
          <p:cNvSpPr>
            <a:spLocks noGrp="1"/>
          </p:cNvSpPr>
          <p:nvPr/>
        </p:nvSpPr>
        <p:spPr>
          <a:xfrm>
            <a:off x="3505200" y="2266950"/>
            <a:ext cx="18764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2. Find assignee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44F14A-5D73-4A90-82C4-1E091D71F152}"/>
              </a:ext>
            </a:extLst>
          </p:cNvPr>
          <p:cNvSpPr>
            <a:spLocks noGrp="1"/>
          </p:cNvSpPr>
          <p:nvPr/>
        </p:nvSpPr>
        <p:spPr>
          <a:xfrm>
            <a:off x="3505200" y="2647950"/>
            <a:ext cx="1876425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UserRepository loads the assigned user's email address.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F2CA78F-1400-4A86-8798-3B75B84AAD01}"/>
              </a:ext>
            </a:extLst>
          </p:cNvPr>
          <p:cNvSpPr>
            <a:spLocks noGrp="1"/>
          </p:cNvSpPr>
          <p:nvPr/>
        </p:nvSpPr>
        <p:spPr>
          <a:xfrm>
            <a:off x="6315075" y="2095500"/>
            <a:ext cx="2257425" cy="1809750"/>
          </a:xfrm>
          <a:prstGeom prst="roundRect">
            <a:avLst>
              <a:gd name="adj" fmla="val 6316"/>
            </a:avLst>
          </a:prstGeom>
          <a:solidFill>
            <a:srgbClr val="FFF7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47FCC5-3D9F-4376-9729-E0DCBB44514C}"/>
              </a:ext>
            </a:extLst>
          </p:cNvPr>
          <p:cNvSpPr>
            <a:spLocks noGrp="1"/>
          </p:cNvSpPr>
          <p:nvPr/>
        </p:nvSpPr>
        <p:spPr>
          <a:xfrm>
            <a:off x="6505575" y="2266950"/>
            <a:ext cx="18764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3. Send message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5FA780-7CEA-4B33-BAEF-4B8EB25B69C5}"/>
              </a:ext>
            </a:extLst>
          </p:cNvPr>
          <p:cNvSpPr>
            <a:spLocks noGrp="1"/>
          </p:cNvSpPr>
          <p:nvPr/>
        </p:nvSpPr>
        <p:spPr>
          <a:xfrm>
            <a:off x="6505575" y="2647950"/>
            <a:ext cx="1876425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EmailService builds a SimpleMailMessage through JavaMailSender.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E859E9C-D0A7-4601-8A4C-5ADEAD5D9E81}"/>
              </a:ext>
            </a:extLst>
          </p:cNvPr>
          <p:cNvSpPr>
            <a:spLocks noGrp="1"/>
          </p:cNvSpPr>
          <p:nvPr/>
        </p:nvSpPr>
        <p:spPr>
          <a:xfrm>
            <a:off x="9315450" y="2095500"/>
            <a:ext cx="2381250" cy="1809750"/>
          </a:xfrm>
          <a:prstGeom prst="roundRect">
            <a:avLst>
              <a:gd name="adj" fmla="val 6316"/>
            </a:avLst>
          </a:prstGeom>
          <a:solidFill>
            <a:srgbClr val="DCFCE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CDDD0F-44FD-4A72-8F87-8F3EA2E78FAF}"/>
              </a:ext>
            </a:extLst>
          </p:cNvPr>
          <p:cNvSpPr>
            <a:spLocks noGrp="1"/>
          </p:cNvSpPr>
          <p:nvPr/>
        </p:nvSpPr>
        <p:spPr>
          <a:xfrm>
            <a:off x="9505950" y="22669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4. Deliver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D35055-8F28-457B-91DF-B70F0CDA4386}"/>
              </a:ext>
            </a:extLst>
          </p:cNvPr>
          <p:cNvSpPr>
            <a:spLocks noGrp="1"/>
          </p:cNvSpPr>
          <p:nvPr/>
        </p:nvSpPr>
        <p:spPr>
          <a:xfrm>
            <a:off x="9505950" y="2647950"/>
            <a:ext cx="200025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Gmail SMTP sends a real notification to the assigned user's inbox.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45C5210-19E2-4727-B70F-F2BCF147400F}"/>
              </a:ext>
            </a:extLst>
          </p:cNvPr>
          <p:cNvSpPr>
            <a:spLocks noGrp="1"/>
          </p:cNvSpPr>
          <p:nvPr/>
        </p:nvSpPr>
        <p:spPr>
          <a:xfrm>
            <a:off x="2667000" y="4810125"/>
            <a:ext cx="685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5F6F8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F6F86"/>
                </a:solidFill>
                <a:latin typeface="Arial"/>
                <a:ea typeface="Arial"/>
                <a:cs typeface="Arial"/>
              </a:rPr>
              <a:t>Email errors are caught so ticket creation can still complete during an SMTP outage.</a:t>
            </a:r>
          </a:p>
        </p:txBody>
      </p:sp>
    </p:spTree>
    <p:extLst>
      <p:ext uri="{BB962C8B-B14F-4D97-AF65-F5344CB8AC3E}">
        <p14:creationId xmlns:p14="http://schemas.microsoft.com/office/powerpoint/2010/main" val="911764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5AAF59F-05BF-4ABB-99CC-F452099C70B4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ctr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sz="2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DASHBOARD</a:t>
            </a:r>
            <a:endParaRPr sz="285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F0497F-D02A-4BAF-8807-DCF7B7487E1B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F6F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F8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73DA2D9-2C84-49D5-8677-CD979B0D3ABD}"/>
              </a:ext>
            </a:extLst>
          </p:cNvPr>
          <p:cNvSpPr>
            <a:spLocks noGrp="1"/>
          </p:cNvSpPr>
          <p:nvPr/>
        </p:nvSpPr>
        <p:spPr>
          <a:xfrm>
            <a:off x="400050" y="1524000"/>
            <a:ext cx="3238500" cy="3810000"/>
          </a:xfrm>
          <a:prstGeom prst="roundRect">
            <a:avLst>
              <a:gd name="adj" fmla="val 3529"/>
            </a:avLst>
          </a:prstGeom>
          <a:solidFill>
            <a:srgbClr val="DBEAFE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D2D86F-4423-4681-AC59-EE6E92F0DF7A}"/>
              </a:ext>
            </a:extLst>
          </p:cNvPr>
          <p:cNvSpPr>
            <a:spLocks noGrp="1"/>
          </p:cNvSpPr>
          <p:nvPr/>
        </p:nvSpPr>
        <p:spPr>
          <a:xfrm>
            <a:off x="590550" y="16954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Summary cards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D1C559-B200-44E6-B2ED-AD1256FB3041}"/>
              </a:ext>
            </a:extLst>
          </p:cNvPr>
          <p:cNvSpPr>
            <a:spLocks noGrp="1"/>
          </p:cNvSpPr>
          <p:nvPr/>
        </p:nvSpPr>
        <p:spPr>
          <a:xfrm>
            <a:off x="590550" y="2076450"/>
            <a:ext cx="2857500" cy="308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Total Tickets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Open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In Progress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FE3092C-8630-48DD-8FB6-C7FBCC8E3F1F}"/>
              </a:ext>
            </a:extLst>
          </p:cNvPr>
          <p:cNvSpPr>
            <a:spLocks noGrp="1"/>
          </p:cNvSpPr>
          <p:nvPr/>
        </p:nvSpPr>
        <p:spPr>
          <a:xfrm>
            <a:off x="4476750" y="1524000"/>
            <a:ext cx="3238500" cy="3810000"/>
          </a:xfrm>
          <a:prstGeom prst="roundRect">
            <a:avLst>
              <a:gd name="adj" fmla="val 3529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153998-9623-430E-86EA-539173E9996A}"/>
              </a:ext>
            </a:extLst>
          </p:cNvPr>
          <p:cNvSpPr>
            <a:spLocks noGrp="1"/>
          </p:cNvSpPr>
          <p:nvPr/>
        </p:nvSpPr>
        <p:spPr>
          <a:xfrm>
            <a:off x="4667250" y="16954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Status chart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1EAC36-3343-48C2-82AD-8778AC121147}"/>
              </a:ext>
            </a:extLst>
          </p:cNvPr>
          <p:cNvSpPr>
            <a:spLocks noGrp="1"/>
          </p:cNvSpPr>
          <p:nvPr/>
        </p:nvSpPr>
        <p:spPr>
          <a:xfrm>
            <a:off x="4667250" y="2076450"/>
            <a:ext cx="2857500" cy="308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Chart type: Doughnut</a:t>
            </a:r>
          </a:p>
          <a:p>
            <a:endParaRPr sz="1275" b="0">
              <a:solidFill>
                <a:srgbClr val="0B1F3A"/>
              </a:solidFill>
              <a:latin typeface="Arial"/>
              <a:ea typeface="Arial"/>
              <a:cs typeface="Arial"/>
            </a:endParaRP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Shows the current distribution across Open, In Progress, and Complete.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94714FF-50E4-4FD2-BB4E-AE93CB3C2ADE}"/>
              </a:ext>
            </a:extLst>
          </p:cNvPr>
          <p:cNvSpPr>
            <a:spLocks noGrp="1"/>
          </p:cNvSpPr>
          <p:nvPr/>
        </p:nvSpPr>
        <p:spPr>
          <a:xfrm>
            <a:off x="8553450" y="1524000"/>
            <a:ext cx="3238500" cy="3810000"/>
          </a:xfrm>
          <a:prstGeom prst="roundRect">
            <a:avLst>
              <a:gd name="adj" fmla="val 3529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451377-96C0-493A-A7A2-861D8E0DB92E}"/>
              </a:ext>
            </a:extLst>
          </p:cNvPr>
          <p:cNvSpPr>
            <a:spLocks noGrp="1"/>
          </p:cNvSpPr>
          <p:nvPr/>
        </p:nvSpPr>
        <p:spPr>
          <a:xfrm>
            <a:off x="8743950" y="16954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Priority chart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147613-1EDA-4225-A947-1A84B7D1D221}"/>
              </a:ext>
            </a:extLst>
          </p:cNvPr>
          <p:cNvSpPr>
            <a:spLocks noGrp="1"/>
          </p:cNvSpPr>
          <p:nvPr/>
        </p:nvSpPr>
        <p:spPr>
          <a:xfrm>
            <a:off x="8743950" y="2076450"/>
            <a:ext cx="2857500" cy="308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Chart type: Bar</a:t>
            </a:r>
          </a:p>
          <a:p>
            <a:endParaRPr sz="1275" b="0">
              <a:solidFill>
                <a:srgbClr val="0B1F3A"/>
              </a:solidFill>
              <a:latin typeface="Arial"/>
              <a:ea typeface="Arial"/>
              <a:cs typeface="Arial"/>
            </a:endParaRP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Compares Low, Medium, and High priority counts.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FF554C-891E-47EC-9763-30F7D0CDD702}"/>
              </a:ext>
            </a:extLst>
          </p:cNvPr>
          <p:cNvSpPr>
            <a:spLocks noGrp="1"/>
          </p:cNvSpPr>
          <p:nvPr/>
        </p:nvSpPr>
        <p:spPr>
          <a:xfrm>
            <a:off x="3143250" y="5667375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3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All values are loaded live from GET /api/dashboard.</a:t>
            </a:r>
          </a:p>
        </p:txBody>
      </p:sp>
    </p:spTree>
    <p:extLst>
      <p:ext uri="{BB962C8B-B14F-4D97-AF65-F5344CB8AC3E}">
        <p14:creationId xmlns:p14="http://schemas.microsoft.com/office/powerpoint/2010/main" val="2093819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D8B2D30-46EE-4BCB-971A-421F93502D09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ctr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sz="2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TECH STACK</a:t>
            </a:r>
            <a:endParaRPr sz="285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8F7D24-7D29-4771-9105-4817C053D2F6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F6F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F8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CA0F93C-E0A4-4D5A-98F7-50BE9E6C0C67}"/>
              </a:ext>
            </a:extLst>
          </p:cNvPr>
          <p:cNvSpPr>
            <a:spLocks noGrp="1"/>
          </p:cNvSpPr>
          <p:nvPr/>
        </p:nvSpPr>
        <p:spPr>
          <a:xfrm>
            <a:off x="400050" y="1666875"/>
            <a:ext cx="3476625" cy="3429000"/>
          </a:xfrm>
          <a:prstGeom prst="roundRect">
            <a:avLst>
              <a:gd name="adj" fmla="val 3333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77BB92-3EAD-4844-8026-2FB7BEA1B51E}"/>
              </a:ext>
            </a:extLst>
          </p:cNvPr>
          <p:cNvSpPr>
            <a:spLocks noGrp="1"/>
          </p:cNvSpPr>
          <p:nvPr/>
        </p:nvSpPr>
        <p:spPr>
          <a:xfrm>
            <a:off x="590550" y="1838325"/>
            <a:ext cx="3095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Frontend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916067-C8E8-49A0-B0D4-71BE53E9E354}"/>
              </a:ext>
            </a:extLst>
          </p:cNvPr>
          <p:cNvSpPr>
            <a:spLocks noGrp="1"/>
          </p:cNvSpPr>
          <p:nvPr/>
        </p:nvSpPr>
        <p:spPr>
          <a:xfrm>
            <a:off x="590550" y="2219325"/>
            <a:ext cx="3095625" cy="270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React 19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HTML5 + CSS3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Bootstrap 5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React Router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Axios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Chart.js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Vite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DCFF99D-174D-4607-BA9A-F17BF1834093}"/>
              </a:ext>
            </a:extLst>
          </p:cNvPr>
          <p:cNvSpPr>
            <a:spLocks noGrp="1"/>
          </p:cNvSpPr>
          <p:nvPr/>
        </p:nvSpPr>
        <p:spPr>
          <a:xfrm>
            <a:off x="4352925" y="1666875"/>
            <a:ext cx="3476625" cy="3429000"/>
          </a:xfrm>
          <a:prstGeom prst="roundRect">
            <a:avLst>
              <a:gd name="adj" fmla="val 3333"/>
            </a:avLst>
          </a:prstGeom>
          <a:solidFill>
            <a:srgbClr val="DBEAFE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E8F5D8-CF27-46FE-9B54-70288E706F00}"/>
              </a:ext>
            </a:extLst>
          </p:cNvPr>
          <p:cNvSpPr>
            <a:spLocks noGrp="1"/>
          </p:cNvSpPr>
          <p:nvPr/>
        </p:nvSpPr>
        <p:spPr>
          <a:xfrm>
            <a:off x="4543425" y="1838325"/>
            <a:ext cx="3095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0678B4-A11B-4E2B-9BD2-D9D475A62B6D}"/>
              </a:ext>
            </a:extLst>
          </p:cNvPr>
          <p:cNvSpPr>
            <a:spLocks noGrp="1"/>
          </p:cNvSpPr>
          <p:nvPr/>
        </p:nvSpPr>
        <p:spPr>
          <a:xfrm>
            <a:off x="4543425" y="2219325"/>
            <a:ext cx="3095625" cy="270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Java 17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Spring Boot 4.1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Spring MVC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Spring Data JPA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Hibernate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Java Mail Sender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Maven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A8B5D7E-14FD-49D7-A6E0-33F1AD517619}"/>
              </a:ext>
            </a:extLst>
          </p:cNvPr>
          <p:cNvSpPr>
            <a:spLocks noGrp="1"/>
          </p:cNvSpPr>
          <p:nvPr/>
        </p:nvSpPr>
        <p:spPr>
          <a:xfrm>
            <a:off x="8305800" y="1666875"/>
            <a:ext cx="3486150" cy="3429000"/>
          </a:xfrm>
          <a:prstGeom prst="roundRect">
            <a:avLst>
              <a:gd name="adj" fmla="val 3333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ADF6BF-F265-4016-9029-08B814321D33}"/>
              </a:ext>
            </a:extLst>
          </p:cNvPr>
          <p:cNvSpPr>
            <a:spLocks noGrp="1"/>
          </p:cNvSpPr>
          <p:nvPr/>
        </p:nvSpPr>
        <p:spPr>
          <a:xfrm>
            <a:off x="8496300" y="1838325"/>
            <a:ext cx="3105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Data and tools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C3C463-3A0D-4508-9A9C-8071A6DF40E4}"/>
              </a:ext>
            </a:extLst>
          </p:cNvPr>
          <p:cNvSpPr>
            <a:spLocks noGrp="1"/>
          </p:cNvSpPr>
          <p:nvPr/>
        </p:nvSpPr>
        <p:spPr>
          <a:xfrm>
            <a:off x="8496300" y="2219325"/>
            <a:ext cx="3105150" cy="2705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MySQL 8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MySQL Workbench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Postman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IntelliJ IDEA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Git + GitHub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Gmail SMTP</a:t>
            </a:r>
          </a:p>
        </p:txBody>
      </p:sp>
    </p:spTree>
    <p:extLst>
      <p:ext uri="{BB962C8B-B14F-4D97-AF65-F5344CB8AC3E}">
        <p14:creationId xmlns:p14="http://schemas.microsoft.com/office/powerpoint/2010/main" val="1308432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80A566F-B66F-4844-9170-4F14C2C5D49D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ctr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sz="2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TESTING PROCEDURES</a:t>
            </a:r>
            <a:endParaRPr sz="285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757C28-A7CE-4150-93B8-D74868188EF9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F6F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F8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CD0BE36-03E4-4661-A9BE-E175ACCF15A3}"/>
              </a:ext>
            </a:extLst>
          </p:cNvPr>
          <p:cNvSpPr>
            <a:spLocks noGrp="1"/>
          </p:cNvSpPr>
          <p:nvPr/>
        </p:nvSpPr>
        <p:spPr>
          <a:xfrm>
            <a:off x="762000" y="1724025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DEFEC4-1FC6-4D97-9D93-523C05C1794D}"/>
              </a:ext>
            </a:extLst>
          </p:cNvPr>
          <p:cNvSpPr>
            <a:spLocks noGrp="1"/>
          </p:cNvSpPr>
          <p:nvPr/>
        </p:nvSpPr>
        <p:spPr>
          <a:xfrm>
            <a:off x="1000125" y="1666875"/>
            <a:ext cx="10239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Postman checks registration, login, ticket CRUD, search, status, dashboard, and user deletion APIs.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86D085E-A245-44E8-B165-F3F168AA0322}"/>
              </a:ext>
            </a:extLst>
          </p:cNvPr>
          <p:cNvSpPr>
            <a:spLocks noGrp="1"/>
          </p:cNvSpPr>
          <p:nvPr/>
        </p:nvSpPr>
        <p:spPr>
          <a:xfrm>
            <a:off x="762000" y="2505075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B683EB-D386-4BB3-BDB9-B26F446C3CAA}"/>
              </a:ext>
            </a:extLst>
          </p:cNvPr>
          <p:cNvSpPr>
            <a:spLocks noGrp="1"/>
          </p:cNvSpPr>
          <p:nvPr/>
        </p:nvSpPr>
        <p:spPr>
          <a:xfrm>
            <a:off x="1000125" y="2447925"/>
            <a:ext cx="10239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Frontend production build confirms React components and routes compile successfully.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CCFDF8C-3EEB-4380-8390-0227376F6BCC}"/>
              </a:ext>
            </a:extLst>
          </p:cNvPr>
          <p:cNvSpPr>
            <a:spLocks noGrp="1"/>
          </p:cNvSpPr>
          <p:nvPr/>
        </p:nvSpPr>
        <p:spPr>
          <a:xfrm>
            <a:off x="762000" y="3286125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8487F2-61C3-4E9D-A1FD-D607272510BB}"/>
              </a:ext>
            </a:extLst>
          </p:cNvPr>
          <p:cNvSpPr>
            <a:spLocks noGrp="1"/>
          </p:cNvSpPr>
          <p:nvPr/>
        </p:nvSpPr>
        <p:spPr>
          <a:xfrm>
            <a:off x="1000125" y="3228975"/>
            <a:ext cx="10239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Spring context test confirms dependency injection, Hibernate, MySQL, controllers, and services start together.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5BA006A-C884-479C-BB43-D9236B00E90C}"/>
              </a:ext>
            </a:extLst>
          </p:cNvPr>
          <p:cNvSpPr>
            <a:spLocks noGrp="1"/>
          </p:cNvSpPr>
          <p:nvPr/>
        </p:nvSpPr>
        <p:spPr>
          <a:xfrm>
            <a:off x="762000" y="4067175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CF6B76-49BE-48C6-9B5E-639FA0AF5B36}"/>
              </a:ext>
            </a:extLst>
          </p:cNvPr>
          <p:cNvSpPr>
            <a:spLocks noGrp="1"/>
          </p:cNvSpPr>
          <p:nvPr/>
        </p:nvSpPr>
        <p:spPr>
          <a:xfrm>
            <a:off x="1000125" y="4010025"/>
            <a:ext cx="10239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Manual role testing verifies admin-only edits/deletes and user-only self-assignment behavior.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A07666F-DCBF-4895-960F-4D9B3B187BA5}"/>
              </a:ext>
            </a:extLst>
          </p:cNvPr>
          <p:cNvSpPr>
            <a:spLocks noGrp="1"/>
          </p:cNvSpPr>
          <p:nvPr/>
        </p:nvSpPr>
        <p:spPr>
          <a:xfrm>
            <a:off x="762000" y="4848225"/>
            <a:ext cx="95250" cy="95250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CD95C7-8B73-4262-B65F-5E66B2B1C68E}"/>
              </a:ext>
            </a:extLst>
          </p:cNvPr>
          <p:cNvSpPr>
            <a:spLocks noGrp="1"/>
          </p:cNvSpPr>
          <p:nvPr/>
        </p:nvSpPr>
        <p:spPr>
          <a:xfrm>
            <a:off x="1000125" y="4791075"/>
            <a:ext cx="10239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B1F3A"/>
                </a:solidFill>
                <a:latin typeface="Arial"/>
                <a:ea typeface="Arial"/>
                <a:cs typeface="Arial"/>
              </a:rPr>
              <a:t>Real Gmail delivery verifies the assignment-notification integration.</a:t>
            </a:r>
          </a:p>
        </p:txBody>
      </p:sp>
    </p:spTree>
    <p:extLst>
      <p:ext uri="{BB962C8B-B14F-4D97-AF65-F5344CB8AC3E}">
        <p14:creationId xmlns:p14="http://schemas.microsoft.com/office/powerpoint/2010/main" val="8940293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AE49D26-7B35-4345-88BB-1EE5CFB4BC4C}"/>
              </a:ext>
            </a:extLst>
          </p:cNvPr>
          <p:cNvSpPr>
            <a:spLocks noGrp="1"/>
          </p:cNvSpPr>
          <p:nvPr/>
        </p:nvSpPr>
        <p:spPr>
          <a:xfrm>
            <a:off x="400050" y="323850"/>
            <a:ext cx="10953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ctr"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sz="28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PROJECT DEMO INITIATION</a:t>
            </a:r>
            <a:endParaRPr sz="285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12CF07-CDBF-49A1-91AE-F960F182D6EA}"/>
              </a:ext>
            </a:extLst>
          </p:cNvPr>
          <p:cNvSpPr>
            <a:spLocks noGrp="1"/>
          </p:cNvSpPr>
          <p:nvPr/>
        </p:nvSpPr>
        <p:spPr>
          <a:xfrm>
            <a:off x="11239500" y="628650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0">
                <a:solidFill>
                  <a:srgbClr val="5F6F8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F8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0C5FD34-D8ED-4A3C-BD25-668FA5D8E6E8}"/>
              </a:ext>
            </a:extLst>
          </p:cNvPr>
          <p:cNvSpPr>
            <a:spLocks noGrp="1"/>
          </p:cNvSpPr>
          <p:nvPr/>
        </p:nvSpPr>
        <p:spPr>
          <a:xfrm>
            <a:off x="400050" y="1666875"/>
            <a:ext cx="5334000" cy="3619500"/>
          </a:xfrm>
          <a:prstGeom prst="roundRect">
            <a:avLst>
              <a:gd name="adj" fmla="val 3158"/>
            </a:avLst>
          </a:prstGeom>
          <a:solidFill>
            <a:srgbClr val="DBEAFE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6B5049-2ABF-4E3E-8712-270462119302}"/>
              </a:ext>
            </a:extLst>
          </p:cNvPr>
          <p:cNvSpPr>
            <a:spLocks noGrp="1"/>
          </p:cNvSpPr>
          <p:nvPr/>
        </p:nvSpPr>
        <p:spPr>
          <a:xfrm>
            <a:off x="590550" y="1838325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Ready now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FCF2FF-A60A-4F64-9DE4-7E2D65DCD3B3}"/>
              </a:ext>
            </a:extLst>
          </p:cNvPr>
          <p:cNvSpPr>
            <a:spLocks noGrp="1"/>
          </p:cNvSpPr>
          <p:nvPr/>
        </p:nvSpPr>
        <p:spPr>
          <a:xfrm>
            <a:off x="590550" y="2219325"/>
            <a:ext cx="4953000" cy="2895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All required workflows are implemented.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UI and REST API are integrated.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Email and dashboard features work.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Admin/User behavior is enforced in services.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The project builds and tests successfully.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C43A329-28F6-4487-98F8-F91C5F5FDCE3}"/>
              </a:ext>
            </a:extLst>
          </p:cNvPr>
          <p:cNvSpPr>
            <a:spLocks noGrp="1"/>
          </p:cNvSpPr>
          <p:nvPr/>
        </p:nvSpPr>
        <p:spPr>
          <a:xfrm>
            <a:off x="6076950" y="1666875"/>
            <a:ext cx="5715000" cy="3619500"/>
          </a:xfrm>
          <a:prstGeom prst="roundRect">
            <a:avLst>
              <a:gd name="adj" fmla="val 3158"/>
            </a:avLst>
          </a:prstGeom>
          <a:solidFill>
            <a:srgbClr val="FFF7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C8ACA6-A0FB-4EEB-A34E-5D38337805C5}"/>
              </a:ext>
            </a:extLst>
          </p:cNvPr>
          <p:cNvSpPr>
            <a:spLocks noGrp="1"/>
          </p:cNvSpPr>
          <p:nvPr/>
        </p:nvSpPr>
        <p:spPr>
          <a:xfrm>
            <a:off x="6267450" y="1838325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Recommended future improvements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4D2CEA-B40E-4D57-BF5B-42E6DE13A9F4}"/>
              </a:ext>
            </a:extLst>
          </p:cNvPr>
          <p:cNvSpPr>
            <a:spLocks noGrp="1"/>
          </p:cNvSpPr>
          <p:nvPr/>
        </p:nvSpPr>
        <p:spPr>
          <a:xfrm>
            <a:off x="6267450" y="2219325"/>
            <a:ext cx="5334000" cy="2895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Replace X-User-Id with Spring Security + JWT.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Hash passwords with </a:t>
            </a:r>
            <a:r>
              <a:rPr sz="1275" b="0" dirty="0" err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BCrypt</a:t>
            </a:r>
            <a:r>
              <a:rPr sz="1275" b="0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Prevent public ADMIN registration.</a:t>
            </a:r>
            <a:endParaRPr lang="en-US" sz="1275" b="0" dirty="0">
              <a:solidFill>
                <a:srgbClr val="0B1F3A"/>
              </a:solidFill>
              <a:latin typeface="Arial"/>
              <a:ea typeface="Arial"/>
              <a:cs typeface="Arial"/>
            </a:endParaRPr>
          </a:p>
          <a:p>
            <a:pPr algn="l">
              <a:defRPr sz="1275" b="0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lang="en-US" sz="1275" dirty="0">
                <a:solidFill>
                  <a:srgbClr val="0B1F3A"/>
                </a:solidFill>
                <a:latin typeface="Arial"/>
                <a:ea typeface="Arial"/>
                <a:cs typeface="Arial"/>
              </a:rPr>
              <a:t>Add industry standard Authentication and Authorization</a:t>
            </a:r>
            <a:endParaRPr sz="1275" b="0" dirty="0">
              <a:solidFill>
                <a:srgbClr val="0B1F3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01615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64033D7-904B-47DE-9911-572936FCE9FD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MINI TASK MANAGEMENT SYSTEM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D9512A-B7E8-41A4-AA8F-C89571562525}"/>
              </a:ext>
            </a:extLst>
          </p:cNvPr>
          <p:cNvSpPr>
            <a:spLocks noGrp="1"/>
          </p:cNvSpPr>
          <p:nvPr/>
        </p:nvSpPr>
        <p:spPr>
          <a:xfrm>
            <a:off x="400050" y="1762125"/>
            <a:ext cx="99060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4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sz="465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PROJECT IS DEMO READY</a:t>
            </a:r>
            <a:endParaRPr sz="4650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99024C-69C2-4A3D-AD56-C9C13DCD2200}"/>
              </a:ext>
            </a:extLst>
          </p:cNvPr>
          <p:cNvSpPr>
            <a:spLocks noGrp="1"/>
          </p:cNvSpPr>
          <p:nvPr/>
        </p:nvSpPr>
        <p:spPr>
          <a:xfrm>
            <a:off x="400050" y="5048250"/>
            <a:ext cx="742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0">
                <a:solidFill>
                  <a:srgbClr val="5F6F86"/>
                </a:solidFill>
                <a:latin typeface="Arial"/>
                <a:ea typeface="Arial"/>
                <a:cs typeface="Arial"/>
              </a:defRPr>
            </a:pPr>
            <a:r>
              <a:rPr lang="en-US" sz="1800" b="0" dirty="0">
                <a:solidFill>
                  <a:srgbClr val="5F6F86"/>
                </a:solidFill>
                <a:latin typeface="Arial"/>
                <a:ea typeface="Arial"/>
                <a:cs typeface="Arial"/>
              </a:rPr>
              <a:t>THANKYOU FOR YOUR PATIENCE……!!!!!</a:t>
            </a:r>
            <a:endParaRPr sz="1800" b="0" dirty="0">
              <a:solidFill>
                <a:srgbClr val="5F6F8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F7F0906-C90E-4D14-BAB1-31DD26B5825B}"/>
              </a:ext>
            </a:extLst>
          </p:cNvPr>
          <p:cNvSpPr>
            <a:spLocks noGrp="1"/>
          </p:cNvSpPr>
          <p:nvPr/>
        </p:nvSpPr>
        <p:spPr>
          <a:xfrm>
            <a:off x="9906000" y="4762500"/>
            <a:ext cx="1571625" cy="11430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AFA1E1-8E3A-4A43-B454-8CE0BF63738B}"/>
              </a:ext>
            </a:extLst>
          </p:cNvPr>
          <p:cNvSpPr>
            <a:spLocks noGrp="1"/>
          </p:cNvSpPr>
          <p:nvPr/>
        </p:nvSpPr>
        <p:spPr>
          <a:xfrm>
            <a:off x="9906000" y="5048250"/>
            <a:ext cx="15716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286" lnSpcReduction="10000"/>
          </a:bodyPr>
          <a:lstStyle/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</a:t>
            </a:r>
          </a:p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</p:spTree>
    <p:extLst>
      <p:ext uri="{BB962C8B-B14F-4D97-AF65-F5344CB8AC3E}">
        <p14:creationId xmlns:p14="http://schemas.microsoft.com/office/powerpoint/2010/main" val="122750542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1161</Words>
  <Application>Microsoft Macintosh PowerPoint</Application>
  <DocSecurity>0</DocSecurity>
  <PresentationFormat>Widescreen</PresentationFormat>
  <Paragraphs>252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Neupane, Aayam</cp:lastModifiedBy>
  <cp:revision>7</cp:revision>
  <dcterms:created xsi:type="dcterms:W3CDTF">2026-07-23T02:08:47Z</dcterms:created>
  <dcterms:modified xsi:type="dcterms:W3CDTF">2026-07-24T04:09:16Z</dcterms:modified>
</cp:coreProperties>
</file>